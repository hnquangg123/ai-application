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0E5B78-4687-AA99-5648-D370BF1ECF5D}" v="21" dt="2026-08-19T02:15:12.0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Xin chào thầy cô và các bạn. Workshop 4 đưa kiến thức dự án vào MockMate bằng Retrieval-Augmented Generation. Người dùng quản lý tài liệu theo từng project và page, index cả text lẫn hình ảnh, rồi chọn project khi bắt đầu phỏng vấn. Mục tiêu là tạo một câu hỏi cuối cùng có căn cứ từ chính tài liệu đã lưu.</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Vấn đề của câu hỏi chung là chúng không kiểm tra được ứng viên hiểu hệ thống cụ thể đến đâu. Một sơ đồ còn chứa hướng mũi tên, event, dependency và luồng dữ liệu; tên file hoặc OCR label đơn thuần không đủ. RAG giúp truy xuất đúng bằng chứng trước khi sinh câu hỏi.</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Kiến trúc được chia thành ba lớp. Lớp content quản lý project, page và block. Lớp retrieval chuyển nội dung thành vector và tìm top năm đoạn gần nhất. Lớp interview giữ nguyên kế hoạch câu hỏi chung, sau đó bổ sung một câu hỏi project ở cuối.</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bấm Build RAG, backend nhận nội dung trang, chia text thành chunk, dùng vision để mô tả hình bằng tiếng Anh, tạo embedding 384 chiều bằng MiniLM local, lưu vào project_data và tạo khả năng tìm kiếm cosine bằng HNSW. Vector cũ chỉ bị thay sau khi pipeline mới thành công.</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 thành phần có trách nhiệm tách biệt. MiniLM xử lý text và query ngay trên máy. GPT-4o-mini nhận ảnh thật để mô tả node, arrow và relationship bằng tiếng Anh, đồng thời sinh câu hỏi từ evidence. pgvector lưu và truy vấn vector 384 chiều.</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Để nút Start Interview không phải chờ model embedding load, hệ thống tạo N câu hỏi chung trước, thêm một câu project fallback ở cuối và trả session ngay. Background task tiếp tục retrieve top năm chunk và thay câu cuối bằng phiên bản grounded khi còn pending.</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 làm rõ vòng đời dữ liệu: tạo project, lưu section, queue reindex và đọc status. Trên UI, người dùng mở workspace riêng của project, thêm text hoặc ảnh, bấm Build RAG, theo dõi pending, processing, ready rồi chọn project trong form bắt đầu phỏng vấn.</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kịch bản nghiệm thu bao phủ CRUD page, vector 384 chiều, chất lượng mô tả diagram, hành vi khi không chọn project, thứ tự N cộng một khi có project, và khả năng fallback khi background task thất bại hoặc backend restart.</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câu hỏi project chưa đúng, cần kiểm tra section status và extracted text trước. Pending hoặc failed thường nằm ở extraction, model cache hay gateway vision. Ready nghĩa là chunk và vector đã commit. FastAPI BackgroundTasks phù hợp workshop nhưng không đảm bảo job sống qua restart.</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Workshop 4 chứng minh rằng kiến thức dự án có thể trở thành dữ liệu tìm kiếm và dùng được trong phỏng vấn mà không làm thay đổi core flow. Các bước tiếp theo hợp lý là worker queue bền vững, hiển thị citation của chunk và đánh giá retrieval bằng bộ câu hỏi chuẩn.</a:t>
            </a:r>
          </a:p>
          <a:p>
            <a:endParaRPr/>
          </a:p>
          <a:p>
            <a:r>
              <a:t>[Sources]</a:t>
            </a:r>
          </a:p>
          <a:p>
            <a:r>
              <a:t>- README_W4_RAG.md</a:t>
            </a:r>
          </a:p>
          <a:p>
            <a:r>
              <a:t>- Backend/app/models/project.py</a:t>
            </a:r>
          </a:p>
          <a:p>
            <a:r>
              <a:t>- Backend/app/services/local_rag_service.py</a:t>
            </a:r>
          </a:p>
          <a:p>
            <a:r>
              <a:t>- Backend/app/services/project_service.py</a:t>
            </a:r>
          </a:p>
          <a:p>
            <a:r>
              <a:t>- Backend/app/services/interview_service.py</a:t>
            </a:r>
          </a:p>
          <a:p>
            <a:r>
              <a:t>- Backend/app/api/project_router.py</a:t>
            </a:r>
          </a:p>
          <a:p>
            <a:r>
              <a:t>- Backend/app/api/interview_router.py</a:t>
            </a:r>
          </a:p>
          <a:p>
            <a:r>
              <a:t>- Backend/app/config/settings.py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over-kicker">
            <a:extLst>
              <a:ext uri="{FF2B5EF4-FFF2-40B4-BE49-F238E27FC236}">
                <a16:creationId xmlns:a16="http://schemas.microsoft.com/office/drawing/2014/main" id="{1B514EDA-B126-4B47-8D3F-972D258712AF}"/>
              </a:ext>
            </a:extLst>
          </p:cNvPr>
          <p:cNvSpPr>
            <a:spLocks noGrp="1"/>
          </p:cNvSpPr>
          <p:nvPr/>
        </p:nvSpPr>
        <p:spPr>
          <a:xfrm>
            <a:off x="400050" y="400050"/>
            <a:ext cx="4953000" cy="228600"/>
          </a:xfrm>
          <a:prstGeom prst="rect">
            <a:avLst/>
          </a:prstGeom>
          <a:noFill/>
          <a:ln w="0">
            <a:noFill/>
            <a:prstDash val="solid"/>
          </a:ln>
        </p:spPr>
        <p:txBody>
          <a:bodyPr wrap="square" lIns="0" tIns="0" rIns="0" bIns="0" anchor="t">
            <a:noAutofit/>
          </a:bodyPr>
          <a:lstStyle/>
          <a:p>
            <a:pPr algn="l">
              <a:buNone/>
              <a:defRPr sz="1200" b="1" i="0">
                <a:solidFill>
                  <a:srgbClr val="5A36B5"/>
                </a:solidFill>
                <a:latin typeface="Arial"/>
                <a:ea typeface="Arial"/>
                <a:cs typeface="Arial"/>
              </a:defRPr>
            </a:pPr>
            <a:r>
              <a:rPr sz="1200" b="1" i="0">
                <a:solidFill>
                  <a:srgbClr val="5A36B5"/>
                </a:solidFill>
                <a:latin typeface="Arial"/>
                <a:ea typeface="Arial"/>
                <a:cs typeface="Arial"/>
              </a:rPr>
              <a:t>WORKSHOP 4 · ACADEMIC ARTIFACT</a:t>
            </a:r>
          </a:p>
        </p:txBody>
      </p:sp>
      <p:sp>
        <p:nvSpPr>
          <p:cNvPr id="2" name="cover-title">
            <a:extLst>
              <a:ext uri="{FF2B5EF4-FFF2-40B4-BE49-F238E27FC236}">
                <a16:creationId xmlns:a16="http://schemas.microsoft.com/office/drawing/2014/main" id="{400F8612-8532-43BD-84C0-39FC8E281566}"/>
              </a:ext>
            </a:extLst>
          </p:cNvPr>
          <p:cNvSpPr>
            <a:spLocks noGrp="1"/>
          </p:cNvSpPr>
          <p:nvPr/>
        </p:nvSpPr>
        <p:spPr>
          <a:xfrm>
            <a:off x="400050" y="1447800"/>
            <a:ext cx="5219700" cy="1695450"/>
          </a:xfrm>
          <a:prstGeom prst="rect">
            <a:avLst/>
          </a:prstGeom>
          <a:noFill/>
          <a:ln w="0">
            <a:noFill/>
            <a:prstDash val="solid"/>
          </a:ln>
        </p:spPr>
        <p:txBody>
          <a:bodyPr wrap="square" lIns="0" tIns="0" rIns="0" bIns="0" anchor="ctr">
            <a:noAutofit/>
          </a:bodyPr>
          <a:lstStyle/>
          <a:p>
            <a:pPr algn="l">
              <a:buNone/>
              <a:defRPr sz="4800" b="1" i="0">
                <a:solidFill>
                  <a:srgbClr val="111111"/>
                </a:solidFill>
                <a:latin typeface="Arial"/>
                <a:ea typeface="Arial"/>
                <a:cs typeface="Arial"/>
              </a:defRPr>
            </a:pPr>
            <a:r>
              <a:rPr sz="4800" b="1" i="0">
                <a:solidFill>
                  <a:srgbClr val="111111"/>
                </a:solidFill>
                <a:latin typeface="Arial"/>
                <a:ea typeface="Arial"/>
                <a:cs typeface="Arial"/>
              </a:rPr>
              <a:t>MockMate</a:t>
            </a:r>
          </a:p>
          <a:p>
            <a:pPr algn="l">
              <a:buNone/>
              <a:defRPr sz="4800" b="1" i="0">
                <a:solidFill>
                  <a:srgbClr val="111111"/>
                </a:solidFill>
                <a:latin typeface="Arial"/>
                <a:ea typeface="Arial"/>
                <a:cs typeface="Arial"/>
              </a:defRPr>
            </a:pPr>
            <a:r>
              <a:rPr sz="4800" b="1" i="0">
                <a:solidFill>
                  <a:srgbClr val="111111"/>
                </a:solidFill>
                <a:latin typeface="Arial"/>
                <a:ea typeface="Arial"/>
                <a:cs typeface="Arial"/>
              </a:rPr>
              <a:t>Learns the Project</a:t>
            </a:r>
          </a:p>
        </p:txBody>
      </p:sp>
      <p:sp>
        <p:nvSpPr>
          <p:cNvPr id="3" name="cover-subtitle">
            <a:extLst>
              <a:ext uri="{FF2B5EF4-FFF2-40B4-BE49-F238E27FC236}">
                <a16:creationId xmlns:a16="http://schemas.microsoft.com/office/drawing/2014/main" id="{1E5BDD67-9B6D-4BA1-A3FF-76D69F9FE294}"/>
              </a:ext>
            </a:extLst>
          </p:cNvPr>
          <p:cNvSpPr>
            <a:spLocks noGrp="1"/>
          </p:cNvSpPr>
          <p:nvPr/>
        </p:nvSpPr>
        <p:spPr>
          <a:xfrm>
            <a:off x="400050" y="3390900"/>
            <a:ext cx="4953000" cy="876300"/>
          </a:xfrm>
          <a:prstGeom prst="rect">
            <a:avLst/>
          </a:prstGeom>
          <a:noFill/>
          <a:ln w="0">
            <a:noFill/>
            <a:prstDash val="solid"/>
          </a:ln>
        </p:spPr>
        <p:txBody>
          <a:bodyPr wrap="square" lIns="0" tIns="0" rIns="0" bIns="0" anchor="t">
            <a:noAutofit/>
          </a:bodyPr>
          <a:lstStyle/>
          <a:p>
            <a:pPr algn="l">
              <a:buNone/>
              <a:defRPr sz="2100" b="0" i="0">
                <a:solidFill>
                  <a:srgbClr val="5D6470"/>
                </a:solidFill>
                <a:latin typeface="Arial"/>
                <a:ea typeface="Arial"/>
                <a:cs typeface="Arial"/>
              </a:defRPr>
            </a:pPr>
            <a:r>
              <a:rPr sz="2100" b="0" i="0">
                <a:solidFill>
                  <a:srgbClr val="5D6470"/>
                </a:solidFill>
                <a:latin typeface="Arial"/>
                <a:ea typeface="Arial"/>
                <a:cs typeface="Arial"/>
              </a:rPr>
              <a:t>Project Knowledge with RAG</a:t>
            </a:r>
          </a:p>
          <a:p>
            <a:pPr algn="l">
              <a:buNone/>
              <a:defRPr sz="2100" b="0" i="0">
                <a:solidFill>
                  <a:srgbClr val="5D6470"/>
                </a:solidFill>
                <a:latin typeface="Arial"/>
                <a:ea typeface="Arial"/>
                <a:cs typeface="Arial"/>
              </a:defRPr>
            </a:pPr>
            <a:r>
              <a:rPr sz="2100" b="0" i="0">
                <a:solidFill>
                  <a:srgbClr val="5D6470"/>
                </a:solidFill>
                <a:latin typeface="Arial"/>
                <a:ea typeface="Arial"/>
                <a:cs typeface="Arial"/>
              </a:rPr>
              <a:t>Text + image indexing for grounded interviews</a:t>
            </a:r>
          </a:p>
        </p:txBody>
      </p:sp>
      <p:sp>
        <p:nvSpPr>
          <p:cNvPr id="4" name="cover-accent">
            <a:extLst>
              <a:ext uri="{FF2B5EF4-FFF2-40B4-BE49-F238E27FC236}">
                <a16:creationId xmlns:a16="http://schemas.microsoft.com/office/drawing/2014/main" id="{4D011628-1F1F-491B-9287-C638FD5D397D}"/>
              </a:ext>
            </a:extLst>
          </p:cNvPr>
          <p:cNvSpPr>
            <a:spLocks noGrp="1"/>
          </p:cNvSpPr>
          <p:nvPr/>
        </p:nvSpPr>
        <p:spPr>
          <a:xfrm>
            <a:off x="400050" y="4695825"/>
            <a:ext cx="1143000" cy="57150"/>
          </a:xfrm>
          <a:prstGeom prst="rect">
            <a:avLst/>
          </a:prstGeom>
          <a:solidFill>
            <a:srgbClr val="5A36B5"/>
          </a:solidFill>
          <a:ln w="0">
            <a:solidFill>
              <a:srgbClr val="5A36B5"/>
            </a:solidFill>
            <a:prstDash val="solid"/>
          </a:ln>
        </p:spPr>
      </p:sp>
      <p:sp>
        <p:nvSpPr>
          <p:cNvPr id="5" name="cover-team">
            <a:extLst>
              <a:ext uri="{FF2B5EF4-FFF2-40B4-BE49-F238E27FC236}">
                <a16:creationId xmlns:a16="http://schemas.microsoft.com/office/drawing/2014/main" id="{C433E4CF-2C97-4A6A-8332-4A84AA1C2AA2}"/>
              </a:ext>
            </a:extLst>
          </p:cNvPr>
          <p:cNvSpPr>
            <a:spLocks noGrp="1"/>
          </p:cNvSpPr>
          <p:nvPr/>
        </p:nvSpPr>
        <p:spPr>
          <a:xfrm>
            <a:off x="400050" y="4981575"/>
            <a:ext cx="4953000" cy="285750"/>
          </a:xfrm>
          <a:prstGeom prst="rect">
            <a:avLst/>
          </a:prstGeom>
          <a:noFill/>
          <a:ln w="0">
            <a:noFill/>
            <a:prstDash val="solid"/>
          </a:ln>
        </p:spPr>
        <p:txBody>
          <a:bodyPr wrap="square" lIns="0" tIns="0" rIns="0" bIns="0" anchor="t">
            <a:noAutofit/>
          </a:bodyPr>
          <a:lstStyle/>
          <a:p>
            <a:pPr algn="l">
              <a:buNone/>
              <a:defRPr sz="1500" b="1" i="0">
                <a:solidFill>
                  <a:srgbClr val="111111"/>
                </a:solidFill>
                <a:latin typeface="Arial"/>
                <a:ea typeface="Arial"/>
                <a:cs typeface="Arial"/>
              </a:defRPr>
            </a:pPr>
            <a:r>
              <a:rPr sz="1500" b="1" i="0">
                <a:solidFill>
                  <a:srgbClr val="111111"/>
                </a:solidFill>
                <a:latin typeface="Arial"/>
                <a:ea typeface="Arial"/>
                <a:cs typeface="Arial"/>
              </a:rPr>
              <a:t>AI Interview Copilot · 19 August 2026</a:t>
            </a:r>
          </a:p>
        </p:txBody>
      </p:sp>
      <p:sp>
        <p:nvSpPr>
          <p:cNvPr id="6" name="cover-governance">
            <a:extLst>
              <a:ext uri="{FF2B5EF4-FFF2-40B4-BE49-F238E27FC236}">
                <a16:creationId xmlns:a16="http://schemas.microsoft.com/office/drawing/2014/main" id="{72021A66-27FA-46A7-9997-531FACBC998F}"/>
              </a:ext>
            </a:extLst>
          </p:cNvPr>
          <p:cNvSpPr>
            <a:spLocks noGrp="1"/>
          </p:cNvSpPr>
          <p:nvPr/>
        </p:nvSpPr>
        <p:spPr>
          <a:xfrm>
            <a:off x="400050" y="5400675"/>
            <a:ext cx="5334000" cy="495300"/>
          </a:xfrm>
          <a:prstGeom prst="rect">
            <a:avLst/>
          </a:prstGeom>
          <a:noFill/>
          <a:ln w="0">
            <a:noFill/>
            <a:prstDash val="solid"/>
          </a:ln>
        </p:spPr>
        <p:txBody>
          <a:bodyPr wrap="square" lIns="0" tIns="0" rIns="0" bIns="0" anchor="t">
            <a:noAutofit/>
          </a:bodyPr>
          <a:lstStyle/>
          <a:p>
            <a:pPr>
              <a:defRPr sz="1350" b="0" i="0">
                <a:solidFill>
                  <a:srgbClr val="5D6470"/>
                </a:solidFill>
                <a:latin typeface="Arial"/>
                <a:ea typeface="Arial"/>
                <a:cs typeface="Arial"/>
              </a:defRPr>
            </a:pPr>
            <a:r>
              <a:rPr sz="1350" b="0" i="0" dirty="0">
                <a:solidFill>
                  <a:srgbClr val="5D6470"/>
                </a:solidFill>
                <a:latin typeface="Arial"/>
                <a:ea typeface="Arial"/>
                <a:cs typeface="Arial"/>
              </a:rPr>
              <a:t>Author: </a:t>
            </a:r>
            <a:r>
              <a:rPr lang="en-US" sz="1350">
                <a:solidFill>
                  <a:srgbClr val="5D6470"/>
                </a:solidFill>
                <a:latin typeface="Arial"/>
                <a:ea typeface="Arial"/>
                <a:cs typeface="Arial"/>
              </a:rPr>
              <a:t>Leo</a:t>
            </a:r>
            <a:r>
              <a:rPr sz="1350" b="0" i="0">
                <a:solidFill>
                  <a:srgbClr val="5D6470"/>
                </a:solidFill>
                <a:latin typeface="Arial"/>
                <a:ea typeface="Arial"/>
                <a:cs typeface="Arial"/>
              </a:rPr>
              <a:t> ·  Reviewer: </a:t>
            </a:r>
            <a:r>
              <a:rPr lang="en-US" sz="1350">
                <a:solidFill>
                  <a:srgbClr val="5D6470"/>
                </a:solidFill>
                <a:latin typeface="Arial"/>
                <a:ea typeface="Arial"/>
                <a:cs typeface="Arial"/>
              </a:rPr>
              <a:t>Whole Team</a:t>
            </a:r>
            <a:r>
              <a:rPr sz="1350" b="0" i="0">
                <a:solidFill>
                  <a:srgbClr val="5D6470"/>
                </a:solidFill>
                <a:latin typeface="Arial"/>
                <a:ea typeface="Arial"/>
                <a:cs typeface="Arial"/>
              </a:rPr>
              <a:t> ·  Approver: </a:t>
            </a:r>
          </a:p>
        </p:txBody>
      </p:sp>
      <p:sp>
        <p:nvSpPr>
          <p:cNvPr id="7" name="cover-image-backing">
            <a:extLst>
              <a:ext uri="{FF2B5EF4-FFF2-40B4-BE49-F238E27FC236}">
                <a16:creationId xmlns:a16="http://schemas.microsoft.com/office/drawing/2014/main" id="{9512CA7A-8E3A-443F-A726-49950498AF71}"/>
              </a:ext>
            </a:extLst>
          </p:cNvPr>
          <p:cNvSpPr>
            <a:spLocks noGrp="1"/>
          </p:cNvSpPr>
          <p:nvPr/>
        </p:nvSpPr>
        <p:spPr>
          <a:xfrm>
            <a:off x="6191250" y="400050"/>
            <a:ext cx="5600700" cy="5600700"/>
          </a:xfrm>
          <a:prstGeom prst="roundRect">
            <a:avLst>
              <a:gd name="adj" fmla="val 1361"/>
            </a:avLst>
          </a:prstGeom>
          <a:solidFill>
            <a:srgbClr val="EAF5FB"/>
          </a:solidFill>
          <a:ln w="9525">
            <a:solidFill>
              <a:srgbClr val="B8BCC4"/>
            </a:solidFill>
            <a:prstDash val="solid"/>
          </a:ln>
        </p:spPr>
      </p:sp>
      <p:pic>
        <p:nvPicPr>
          <p:cNvPr id="19" name="Picture 18"/>
          <p:cNvPicPr>
            <a:picLocks noChangeAspect="1"/>
          </p:cNvPicPr>
          <p:nvPr/>
        </p:nvPicPr>
        <p:blipFill>
          <a:blip r:embed="rId3"/>
          <a:srcRect l="23744" r="23744"/>
          <a:stretch>
            <a:fillRect/>
          </a:stretch>
        </p:blipFill>
        <p:spPr>
          <a:xfrm>
            <a:off x="6191250" y="400050"/>
            <a:ext cx="5600700" cy="5600700"/>
          </a:xfrm>
          <a:prstGeom prst="roundRect">
            <a:avLst>
              <a:gd name="adj" fmla="val 3061"/>
            </a:avLst>
          </a:prstGeom>
        </p:spPr>
      </p:pic>
      <p:sp>
        <p:nvSpPr>
          <p:cNvPr id="9" name="cover-number">
            <a:extLst>
              <a:ext uri="{FF2B5EF4-FFF2-40B4-BE49-F238E27FC236}">
                <a16:creationId xmlns:a16="http://schemas.microsoft.com/office/drawing/2014/main" id="{DBAD0F68-0E29-4119-9D85-70D93FF286F9}"/>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01</a:t>
            </a:r>
          </a:p>
        </p:txBody>
      </p:sp>
    </p:spTree>
    <p:extLst>
      <p:ext uri="{BB962C8B-B14F-4D97-AF65-F5344CB8AC3E}">
        <p14:creationId xmlns:p14="http://schemas.microsoft.com/office/powerpoint/2010/main" val="287374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eyebrow-2">
            <a:extLst>
              <a:ext uri="{FF2B5EF4-FFF2-40B4-BE49-F238E27FC236}">
                <a16:creationId xmlns:a16="http://schemas.microsoft.com/office/drawing/2014/main" id="{0F3980BF-196A-466A-B05B-DD214152F14F}"/>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2">
            <a:extLst>
              <a:ext uri="{FF2B5EF4-FFF2-40B4-BE49-F238E27FC236}">
                <a16:creationId xmlns:a16="http://schemas.microsoft.com/office/drawing/2014/main" id="{A2461FD1-23D0-4647-B14B-7B9A46CF7E44}"/>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Generic questions miss the candidate’s project context</a:t>
            </a:r>
          </a:p>
        </p:txBody>
      </p:sp>
      <p:sp>
        <p:nvSpPr>
          <p:cNvPr id="3" name="title-rule-2">
            <a:extLst>
              <a:ext uri="{FF2B5EF4-FFF2-40B4-BE49-F238E27FC236}">
                <a16:creationId xmlns:a16="http://schemas.microsoft.com/office/drawing/2014/main" id="{79448E88-12D4-4182-B838-666CDAB8391D}"/>
              </a:ext>
            </a:extLst>
          </p:cNvPr>
          <p:cNvSpPr>
            <a:spLocks noGrp="1"/>
          </p:cNvSpPr>
          <p:nvPr/>
        </p:nvSpPr>
        <p:spPr>
          <a:xfrm>
            <a:off x="400050" y="1362075"/>
            <a:ext cx="11391900" cy="9525"/>
          </a:xfrm>
          <a:prstGeom prst="rect">
            <a:avLst/>
          </a:prstGeom>
          <a:solidFill>
            <a:srgbClr val="B8BCC4"/>
          </a:solidFill>
          <a:ln w="0">
            <a:solidFill>
              <a:srgbClr val="B8BCC4"/>
            </a:solidFill>
            <a:prstDash val="solid"/>
          </a:ln>
        </p:spPr>
      </p:sp>
      <p:sp>
        <p:nvSpPr>
          <p:cNvPr id="4" name="slide-number-2">
            <a:extLst>
              <a:ext uri="{FF2B5EF4-FFF2-40B4-BE49-F238E27FC236}">
                <a16:creationId xmlns:a16="http://schemas.microsoft.com/office/drawing/2014/main" id="{65E14A87-8F2C-4762-B33C-CEBBE58CA9FB}"/>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02</a:t>
            </a:r>
          </a:p>
        </p:txBody>
      </p:sp>
      <p:sp>
        <p:nvSpPr>
          <p:cNvPr id="5" name="problem-statement">
            <a:extLst>
              <a:ext uri="{FF2B5EF4-FFF2-40B4-BE49-F238E27FC236}">
                <a16:creationId xmlns:a16="http://schemas.microsoft.com/office/drawing/2014/main" id="{08B38FDF-7C8D-4FB8-8426-B59D3F584505}"/>
              </a:ext>
            </a:extLst>
          </p:cNvPr>
          <p:cNvSpPr>
            <a:spLocks noGrp="1"/>
          </p:cNvSpPr>
          <p:nvPr/>
        </p:nvSpPr>
        <p:spPr>
          <a:xfrm>
            <a:off x="400050" y="1828800"/>
            <a:ext cx="6934200" cy="1428750"/>
          </a:xfrm>
          <a:prstGeom prst="rect">
            <a:avLst/>
          </a:prstGeom>
          <a:noFill/>
          <a:ln w="0">
            <a:noFill/>
            <a:prstDash val="solid"/>
          </a:ln>
        </p:spPr>
        <p:txBody>
          <a:bodyPr wrap="square" lIns="0" tIns="0" rIns="0" bIns="0" anchor="t">
            <a:noAutofit/>
          </a:bodyPr>
          <a:lstStyle/>
          <a:p>
            <a:pPr algn="l">
              <a:buNone/>
              <a:defRPr sz="3750" b="1" i="0">
                <a:solidFill>
                  <a:srgbClr val="111111"/>
                </a:solidFill>
                <a:latin typeface="Arial"/>
                <a:ea typeface="Arial"/>
                <a:cs typeface="Arial"/>
              </a:defRPr>
            </a:pPr>
            <a:r>
              <a:rPr sz="3750" b="1" i="0">
                <a:solidFill>
                  <a:srgbClr val="111111"/>
                </a:solidFill>
                <a:latin typeface="Arial"/>
                <a:ea typeface="Arial"/>
                <a:cs typeface="Arial"/>
              </a:rPr>
              <a:t>A résumé says what was built.</a:t>
            </a:r>
          </a:p>
          <a:p>
            <a:pPr algn="l">
              <a:buNone/>
              <a:defRPr sz="3750" b="1" i="0">
                <a:solidFill>
                  <a:srgbClr val="111111"/>
                </a:solidFill>
                <a:latin typeface="Arial"/>
                <a:ea typeface="Arial"/>
                <a:cs typeface="Arial"/>
              </a:defRPr>
            </a:pPr>
            <a:r>
              <a:rPr sz="3750" b="1" i="0">
                <a:solidFill>
                  <a:srgbClr val="111111"/>
                </a:solidFill>
                <a:latin typeface="Arial"/>
                <a:ea typeface="Arial"/>
                <a:cs typeface="Arial"/>
              </a:rPr>
              <a:t>RAG asks how it actually works.</a:t>
            </a:r>
          </a:p>
        </p:txBody>
      </p:sp>
      <p:sp>
        <p:nvSpPr>
          <p:cNvPr id="6" name="problem-divider">
            <a:extLst>
              <a:ext uri="{FF2B5EF4-FFF2-40B4-BE49-F238E27FC236}">
                <a16:creationId xmlns:a16="http://schemas.microsoft.com/office/drawing/2014/main" id="{17A01937-AFEA-41C3-BE6F-E2C6DC61A2B4}"/>
              </a:ext>
            </a:extLst>
          </p:cNvPr>
          <p:cNvSpPr>
            <a:spLocks noGrp="1"/>
          </p:cNvSpPr>
          <p:nvPr/>
        </p:nvSpPr>
        <p:spPr>
          <a:xfrm>
            <a:off x="7667625" y="1857375"/>
            <a:ext cx="9525" cy="3619500"/>
          </a:xfrm>
          <a:prstGeom prst="rect">
            <a:avLst/>
          </a:prstGeom>
          <a:solidFill>
            <a:srgbClr val="B8BCC4"/>
          </a:solidFill>
          <a:ln w="0">
            <a:solidFill>
              <a:srgbClr val="B8BCC4"/>
            </a:solidFill>
            <a:prstDash val="solid"/>
          </a:ln>
        </p:spPr>
      </p:sp>
      <p:sp>
        <p:nvSpPr>
          <p:cNvPr id="7" name="problem-label">
            <a:extLst>
              <a:ext uri="{FF2B5EF4-FFF2-40B4-BE49-F238E27FC236}">
                <a16:creationId xmlns:a16="http://schemas.microsoft.com/office/drawing/2014/main" id="{1B3FA86E-A6D9-4469-ACDF-E03121049410}"/>
              </a:ext>
            </a:extLst>
          </p:cNvPr>
          <p:cNvSpPr>
            <a:spLocks noGrp="1"/>
          </p:cNvSpPr>
          <p:nvPr/>
        </p:nvSpPr>
        <p:spPr>
          <a:xfrm>
            <a:off x="8096250" y="1924050"/>
            <a:ext cx="3143250" cy="304800"/>
          </a:xfrm>
          <a:prstGeom prst="rect">
            <a:avLst/>
          </a:prstGeom>
          <a:noFill/>
          <a:ln w="0">
            <a:noFill/>
            <a:prstDash val="solid"/>
          </a:ln>
        </p:spPr>
        <p:txBody>
          <a:bodyPr wrap="square" lIns="0" tIns="0" rIns="0" bIns="0" anchor="t">
            <a:noAutofit/>
          </a:bodyPr>
          <a:lstStyle/>
          <a:p>
            <a:pPr algn="l">
              <a:buNone/>
              <a:defRPr sz="1500" b="1" i="0">
                <a:solidFill>
                  <a:srgbClr val="C93A4B"/>
                </a:solidFill>
                <a:latin typeface="Arial"/>
                <a:ea typeface="Arial"/>
                <a:cs typeface="Arial"/>
              </a:defRPr>
            </a:pPr>
            <a:r>
              <a:rPr sz="1500" b="1" i="0">
                <a:solidFill>
                  <a:srgbClr val="C93A4B"/>
                </a:solidFill>
                <a:latin typeface="Arial"/>
                <a:ea typeface="Arial"/>
                <a:cs typeface="Arial"/>
              </a:rPr>
              <a:t>WITHOUT PROJECT CONTEXT</a:t>
            </a:r>
          </a:p>
        </p:txBody>
      </p:sp>
      <p:sp>
        <p:nvSpPr>
          <p:cNvPr id="8" name="problem-b1-dot">
            <a:extLst>
              <a:ext uri="{FF2B5EF4-FFF2-40B4-BE49-F238E27FC236}">
                <a16:creationId xmlns:a16="http://schemas.microsoft.com/office/drawing/2014/main" id="{0302862F-1721-4DED-8D06-F4C0A70F824A}"/>
              </a:ext>
            </a:extLst>
          </p:cNvPr>
          <p:cNvSpPr>
            <a:spLocks noGrp="1"/>
          </p:cNvSpPr>
          <p:nvPr/>
        </p:nvSpPr>
        <p:spPr>
          <a:xfrm>
            <a:off x="8096250" y="2533650"/>
            <a:ext cx="85725" cy="85725"/>
          </a:xfrm>
          <a:prstGeom prst="ellipse">
            <a:avLst/>
          </a:prstGeom>
          <a:solidFill>
            <a:srgbClr val="C93A4B"/>
          </a:solidFill>
          <a:ln w="0">
            <a:solidFill>
              <a:srgbClr val="C93A4B"/>
            </a:solidFill>
            <a:prstDash val="solid"/>
          </a:ln>
        </p:spPr>
      </p:sp>
      <p:sp>
        <p:nvSpPr>
          <p:cNvPr id="9" name="problem-b1">
            <a:extLst>
              <a:ext uri="{FF2B5EF4-FFF2-40B4-BE49-F238E27FC236}">
                <a16:creationId xmlns:a16="http://schemas.microsoft.com/office/drawing/2014/main" id="{6E6A06B2-6F37-42D0-A238-DE9893820DE2}"/>
              </a:ext>
            </a:extLst>
          </p:cNvPr>
          <p:cNvSpPr>
            <a:spLocks noGrp="1"/>
          </p:cNvSpPr>
          <p:nvPr/>
        </p:nvSpPr>
        <p:spPr>
          <a:xfrm>
            <a:off x="8305800" y="2457450"/>
            <a:ext cx="3124200" cy="51435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Questions test broad concepts, but not the architecture, data flow, or decisions in a selected project.</a:t>
            </a:r>
          </a:p>
        </p:txBody>
      </p:sp>
      <p:sp>
        <p:nvSpPr>
          <p:cNvPr id="10" name="problem-b2-dot">
            <a:extLst>
              <a:ext uri="{FF2B5EF4-FFF2-40B4-BE49-F238E27FC236}">
                <a16:creationId xmlns:a16="http://schemas.microsoft.com/office/drawing/2014/main" id="{33AAC282-B1D0-4EA6-9721-125A1EF5FEC5}"/>
              </a:ext>
            </a:extLst>
          </p:cNvPr>
          <p:cNvSpPr>
            <a:spLocks noGrp="1"/>
          </p:cNvSpPr>
          <p:nvPr/>
        </p:nvSpPr>
        <p:spPr>
          <a:xfrm>
            <a:off x="8096250" y="3467100"/>
            <a:ext cx="85725" cy="85725"/>
          </a:xfrm>
          <a:prstGeom prst="ellipse">
            <a:avLst/>
          </a:prstGeom>
          <a:solidFill>
            <a:srgbClr val="C93A4B"/>
          </a:solidFill>
          <a:ln w="0">
            <a:solidFill>
              <a:srgbClr val="C93A4B"/>
            </a:solidFill>
            <a:prstDash val="solid"/>
          </a:ln>
        </p:spPr>
      </p:sp>
      <p:sp>
        <p:nvSpPr>
          <p:cNvPr id="11" name="problem-b2">
            <a:extLst>
              <a:ext uri="{FF2B5EF4-FFF2-40B4-BE49-F238E27FC236}">
                <a16:creationId xmlns:a16="http://schemas.microsoft.com/office/drawing/2014/main" id="{C672BE40-CBB6-496F-B728-1430B874CD00}"/>
              </a:ext>
            </a:extLst>
          </p:cNvPr>
          <p:cNvSpPr>
            <a:spLocks noGrp="1"/>
          </p:cNvSpPr>
          <p:nvPr/>
        </p:nvSpPr>
        <p:spPr>
          <a:xfrm>
            <a:off x="8305800" y="3390900"/>
            <a:ext cx="3124200" cy="51435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Diagram labels alone miss arrow direction, events, dependencies, and system relationships.</a:t>
            </a:r>
          </a:p>
        </p:txBody>
      </p:sp>
      <p:sp>
        <p:nvSpPr>
          <p:cNvPr id="12" name="desired-label">
            <a:extLst>
              <a:ext uri="{FF2B5EF4-FFF2-40B4-BE49-F238E27FC236}">
                <a16:creationId xmlns:a16="http://schemas.microsoft.com/office/drawing/2014/main" id="{65FE17E4-4C4E-4B7B-9553-66451DE0152D}"/>
              </a:ext>
            </a:extLst>
          </p:cNvPr>
          <p:cNvSpPr>
            <a:spLocks noGrp="1"/>
          </p:cNvSpPr>
          <p:nvPr/>
        </p:nvSpPr>
        <p:spPr>
          <a:xfrm>
            <a:off x="400050" y="4229100"/>
            <a:ext cx="2857500" cy="304800"/>
          </a:xfrm>
          <a:prstGeom prst="rect">
            <a:avLst/>
          </a:prstGeom>
          <a:noFill/>
          <a:ln w="0">
            <a:noFill/>
            <a:prstDash val="solid"/>
          </a:ln>
        </p:spPr>
        <p:txBody>
          <a:bodyPr wrap="square" lIns="0" tIns="0" rIns="0" bIns="0" anchor="t">
            <a:noAutofit/>
          </a:bodyPr>
          <a:lstStyle/>
          <a:p>
            <a:pPr algn="l">
              <a:buNone/>
              <a:defRPr sz="1500" b="1" i="0">
                <a:solidFill>
                  <a:srgbClr val="45B98D"/>
                </a:solidFill>
                <a:latin typeface="Arial"/>
                <a:ea typeface="Arial"/>
                <a:cs typeface="Arial"/>
              </a:defRPr>
            </a:pPr>
            <a:r>
              <a:rPr sz="1500" b="1" i="0">
                <a:solidFill>
                  <a:srgbClr val="45B98D"/>
                </a:solidFill>
                <a:latin typeface="Arial"/>
                <a:ea typeface="Arial"/>
                <a:cs typeface="Arial"/>
              </a:rPr>
              <a:t>DESIRED EXPERIENCE</a:t>
            </a:r>
          </a:p>
        </p:txBody>
      </p:sp>
      <p:sp>
        <p:nvSpPr>
          <p:cNvPr id="13" name="desired-copy">
            <a:extLst>
              <a:ext uri="{FF2B5EF4-FFF2-40B4-BE49-F238E27FC236}">
                <a16:creationId xmlns:a16="http://schemas.microsoft.com/office/drawing/2014/main" id="{1980C191-909E-4BE7-8788-DEC5D0D6D580}"/>
              </a:ext>
            </a:extLst>
          </p:cNvPr>
          <p:cNvSpPr>
            <a:spLocks noGrp="1"/>
          </p:cNvSpPr>
          <p:nvPr/>
        </p:nvSpPr>
        <p:spPr>
          <a:xfrm>
            <a:off x="400050" y="4686300"/>
            <a:ext cx="6572250" cy="876300"/>
          </a:xfrm>
          <a:prstGeom prst="rect">
            <a:avLst/>
          </a:prstGeom>
          <a:noFill/>
          <a:ln w="0">
            <a:noFill/>
            <a:prstDash val="solid"/>
          </a:ln>
        </p:spPr>
        <p:txBody>
          <a:bodyPr wrap="square" lIns="0" tIns="0" rIns="0" bIns="0" anchor="t">
            <a:noAutofit/>
          </a:bodyPr>
          <a:lstStyle/>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Select a project and finish the interview with one question grounded in its indexed pages.</a:t>
            </a:r>
          </a:p>
        </p:txBody>
      </p:sp>
    </p:spTree>
    <p:extLst>
      <p:ext uri="{BB962C8B-B14F-4D97-AF65-F5344CB8AC3E}">
        <p14:creationId xmlns:p14="http://schemas.microsoft.com/office/powerpoint/2010/main" val="1749540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eyebrow-3">
            <a:extLst>
              <a:ext uri="{FF2B5EF4-FFF2-40B4-BE49-F238E27FC236}">
                <a16:creationId xmlns:a16="http://schemas.microsoft.com/office/drawing/2014/main" id="{DE99FEE8-D889-4149-AF04-8722FE70BC0D}"/>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3">
            <a:extLst>
              <a:ext uri="{FF2B5EF4-FFF2-40B4-BE49-F238E27FC236}">
                <a16:creationId xmlns:a16="http://schemas.microsoft.com/office/drawing/2014/main" id="{E3D17F53-EC93-4335-BE99-CB204CFFF44F}"/>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RAG adds three focused layers around the interview engine</a:t>
            </a:r>
          </a:p>
        </p:txBody>
      </p:sp>
      <p:sp>
        <p:nvSpPr>
          <p:cNvPr id="3" name="title-rule-3">
            <a:extLst>
              <a:ext uri="{FF2B5EF4-FFF2-40B4-BE49-F238E27FC236}">
                <a16:creationId xmlns:a16="http://schemas.microsoft.com/office/drawing/2014/main" id="{7300113F-E796-42F1-B866-7447D097C296}"/>
              </a:ext>
            </a:extLst>
          </p:cNvPr>
          <p:cNvSpPr>
            <a:spLocks noGrp="1"/>
          </p:cNvSpPr>
          <p:nvPr/>
        </p:nvSpPr>
        <p:spPr>
          <a:xfrm>
            <a:off x="400050" y="1469399"/>
            <a:ext cx="11391900" cy="9525"/>
          </a:xfrm>
          <a:prstGeom prst="rect">
            <a:avLst/>
          </a:prstGeom>
          <a:solidFill>
            <a:srgbClr val="B8BCC4"/>
          </a:solidFill>
          <a:ln w="0">
            <a:solidFill>
              <a:srgbClr val="B8BCC4"/>
            </a:solidFill>
            <a:prstDash val="solid"/>
          </a:ln>
        </p:spPr>
      </p:sp>
      <p:sp>
        <p:nvSpPr>
          <p:cNvPr id="4" name="slide-number-3">
            <a:extLst>
              <a:ext uri="{FF2B5EF4-FFF2-40B4-BE49-F238E27FC236}">
                <a16:creationId xmlns:a16="http://schemas.microsoft.com/office/drawing/2014/main" id="{AB72C6C0-4ADC-4B05-94F5-58263D6FF439}"/>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03</a:t>
            </a:r>
          </a:p>
        </p:txBody>
      </p:sp>
      <p:sp>
        <p:nvSpPr>
          <p:cNvPr id="5" name="scope-header-0">
            <a:extLst>
              <a:ext uri="{FF2B5EF4-FFF2-40B4-BE49-F238E27FC236}">
                <a16:creationId xmlns:a16="http://schemas.microsoft.com/office/drawing/2014/main" id="{8C055AD4-B78E-4113-A0FB-DAF2973BF3E6}"/>
              </a:ext>
            </a:extLst>
          </p:cNvPr>
          <p:cNvSpPr>
            <a:spLocks noGrp="1"/>
          </p:cNvSpPr>
          <p:nvPr/>
        </p:nvSpPr>
        <p:spPr>
          <a:xfrm>
            <a:off x="400050" y="1847850"/>
            <a:ext cx="3429000" cy="304800"/>
          </a:xfrm>
          <a:prstGeom prst="rect">
            <a:avLst/>
          </a:prstGeom>
          <a:noFill/>
          <a:ln w="0">
            <a:noFill/>
            <a:prstDash val="solid"/>
          </a:ln>
        </p:spPr>
        <p:txBody>
          <a:bodyPr wrap="square" lIns="0" tIns="0" rIns="0" bIns="0" anchor="t">
            <a:noAutofit/>
          </a:bodyPr>
          <a:lstStyle/>
          <a:p>
            <a:pPr algn="l">
              <a:buNone/>
              <a:defRPr sz="1500" b="1" i="0">
                <a:solidFill>
                  <a:srgbClr val="5A36B5"/>
                </a:solidFill>
                <a:latin typeface="Arial"/>
                <a:ea typeface="Arial"/>
                <a:cs typeface="Arial"/>
              </a:defRPr>
            </a:pPr>
            <a:r>
              <a:rPr sz="1500" b="1" i="0">
                <a:solidFill>
                  <a:srgbClr val="5A36B5"/>
                </a:solidFill>
                <a:latin typeface="Arial"/>
                <a:ea typeface="Arial"/>
                <a:cs typeface="Arial"/>
              </a:rPr>
              <a:t>CONTENT</a:t>
            </a:r>
          </a:p>
        </p:txBody>
      </p:sp>
      <p:sp>
        <p:nvSpPr>
          <p:cNvPr id="6" name="scope-index-0">
            <a:extLst>
              <a:ext uri="{FF2B5EF4-FFF2-40B4-BE49-F238E27FC236}">
                <a16:creationId xmlns:a16="http://schemas.microsoft.com/office/drawing/2014/main" id="{0781BC4D-A831-4B7B-A6BD-084E5C949976}"/>
              </a:ext>
            </a:extLst>
          </p:cNvPr>
          <p:cNvSpPr>
            <a:spLocks noGrp="1"/>
          </p:cNvSpPr>
          <p:nvPr/>
        </p:nvSpPr>
        <p:spPr>
          <a:xfrm>
            <a:off x="400050" y="2400300"/>
            <a:ext cx="3429000" cy="762000"/>
          </a:xfrm>
          <a:prstGeom prst="rect">
            <a:avLst/>
          </a:prstGeom>
          <a:noFill/>
          <a:ln w="0">
            <a:noFill/>
            <a:prstDash val="solid"/>
          </a:ln>
        </p:spPr>
        <p:txBody>
          <a:bodyPr wrap="square" lIns="0" tIns="0" rIns="0" bIns="0" anchor="t">
            <a:noAutofit/>
          </a:bodyPr>
          <a:lstStyle/>
          <a:p>
            <a:pPr algn="l">
              <a:buNone/>
              <a:defRPr sz="4350" b="1" i="0">
                <a:solidFill>
                  <a:srgbClr val="5A36B5"/>
                </a:solidFill>
                <a:latin typeface="Arial"/>
                <a:ea typeface="Arial"/>
                <a:cs typeface="Arial"/>
              </a:defRPr>
            </a:pPr>
            <a:r>
              <a:rPr sz="4350" b="1" i="0">
                <a:solidFill>
                  <a:srgbClr val="5A36B5"/>
                </a:solidFill>
                <a:latin typeface="Arial"/>
                <a:ea typeface="Arial"/>
                <a:cs typeface="Arial"/>
              </a:rPr>
              <a:t>01</a:t>
            </a:r>
          </a:p>
        </p:txBody>
      </p:sp>
      <p:sp>
        <p:nvSpPr>
          <p:cNvPr id="7" name="scope-copy-0">
            <a:extLst>
              <a:ext uri="{FF2B5EF4-FFF2-40B4-BE49-F238E27FC236}">
                <a16:creationId xmlns:a16="http://schemas.microsoft.com/office/drawing/2014/main" id="{DB71D254-733F-4FC1-8981-E6F431423571}"/>
              </a:ext>
            </a:extLst>
          </p:cNvPr>
          <p:cNvSpPr>
            <a:spLocks noGrp="1"/>
          </p:cNvSpPr>
          <p:nvPr/>
        </p:nvSpPr>
        <p:spPr>
          <a:xfrm>
            <a:off x="400050" y="3390900"/>
            <a:ext cx="3429000" cy="1619250"/>
          </a:xfrm>
          <a:prstGeom prst="rect">
            <a:avLst/>
          </a:prstGeom>
          <a:noFill/>
          <a:ln w="0">
            <a:noFill/>
            <a:prstDash val="solid"/>
          </a:ln>
        </p:spPr>
        <p:txBody>
          <a:bodyPr wrap="square" lIns="0" tIns="0" rIns="0" bIns="0" anchor="t">
            <a:noAutofit/>
          </a:bodyPr>
          <a:lstStyle/>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Projects and pages</a:t>
            </a:r>
          </a:p>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Text + image blocks</a:t>
            </a:r>
          </a:p>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Build RAG status</a:t>
            </a:r>
          </a:p>
        </p:txBody>
      </p:sp>
      <p:sp>
        <p:nvSpPr>
          <p:cNvPr id="8" name="scope-rule-1">
            <a:extLst>
              <a:ext uri="{FF2B5EF4-FFF2-40B4-BE49-F238E27FC236}">
                <a16:creationId xmlns:a16="http://schemas.microsoft.com/office/drawing/2014/main" id="{F3EC2C66-8E5F-4B6E-B68A-0569D94EFD7C}"/>
              </a:ext>
            </a:extLst>
          </p:cNvPr>
          <p:cNvSpPr>
            <a:spLocks noGrp="1"/>
          </p:cNvSpPr>
          <p:nvPr/>
        </p:nvSpPr>
        <p:spPr>
          <a:xfrm>
            <a:off x="4057650" y="1809750"/>
            <a:ext cx="9525" cy="3714750"/>
          </a:xfrm>
          <a:prstGeom prst="rect">
            <a:avLst/>
          </a:prstGeom>
          <a:solidFill>
            <a:srgbClr val="B8BCC4"/>
          </a:solidFill>
          <a:ln w="0">
            <a:solidFill>
              <a:srgbClr val="B8BCC4"/>
            </a:solidFill>
            <a:prstDash val="solid"/>
          </a:ln>
        </p:spPr>
      </p:sp>
      <p:sp>
        <p:nvSpPr>
          <p:cNvPr id="9" name="scope-header-1">
            <a:extLst>
              <a:ext uri="{FF2B5EF4-FFF2-40B4-BE49-F238E27FC236}">
                <a16:creationId xmlns:a16="http://schemas.microsoft.com/office/drawing/2014/main" id="{9109D78C-B4D4-4EE4-90C4-08DD5796906E}"/>
              </a:ext>
            </a:extLst>
          </p:cNvPr>
          <p:cNvSpPr>
            <a:spLocks noGrp="1"/>
          </p:cNvSpPr>
          <p:nvPr/>
        </p:nvSpPr>
        <p:spPr>
          <a:xfrm>
            <a:off x="4286250" y="1847850"/>
            <a:ext cx="3429000" cy="304800"/>
          </a:xfrm>
          <a:prstGeom prst="rect">
            <a:avLst/>
          </a:prstGeom>
          <a:noFill/>
          <a:ln w="0">
            <a:noFill/>
            <a:prstDash val="solid"/>
          </a:ln>
        </p:spPr>
        <p:txBody>
          <a:bodyPr wrap="square" lIns="0" tIns="0" rIns="0" bIns="0" anchor="t">
            <a:noAutofit/>
          </a:bodyPr>
          <a:lstStyle/>
          <a:p>
            <a:pPr algn="l">
              <a:buNone/>
              <a:defRPr sz="1500" b="1" i="0">
                <a:solidFill>
                  <a:srgbClr val="3D8DFF"/>
                </a:solidFill>
                <a:latin typeface="Arial"/>
                <a:ea typeface="Arial"/>
                <a:cs typeface="Arial"/>
              </a:defRPr>
            </a:pPr>
            <a:r>
              <a:rPr sz="1500" b="1" i="0">
                <a:solidFill>
                  <a:srgbClr val="3D8DFF"/>
                </a:solidFill>
                <a:latin typeface="Arial"/>
                <a:ea typeface="Arial"/>
                <a:cs typeface="Arial"/>
              </a:rPr>
              <a:t>RETRIEVAL</a:t>
            </a:r>
          </a:p>
        </p:txBody>
      </p:sp>
      <p:sp>
        <p:nvSpPr>
          <p:cNvPr id="10" name="scope-index-1">
            <a:extLst>
              <a:ext uri="{FF2B5EF4-FFF2-40B4-BE49-F238E27FC236}">
                <a16:creationId xmlns:a16="http://schemas.microsoft.com/office/drawing/2014/main" id="{7CB9D87F-23F5-4D65-8270-05E48D39993A}"/>
              </a:ext>
            </a:extLst>
          </p:cNvPr>
          <p:cNvSpPr>
            <a:spLocks noGrp="1"/>
          </p:cNvSpPr>
          <p:nvPr/>
        </p:nvSpPr>
        <p:spPr>
          <a:xfrm>
            <a:off x="4286250" y="2400300"/>
            <a:ext cx="3429000" cy="762000"/>
          </a:xfrm>
          <a:prstGeom prst="rect">
            <a:avLst/>
          </a:prstGeom>
          <a:noFill/>
          <a:ln w="0">
            <a:noFill/>
            <a:prstDash val="solid"/>
          </a:ln>
        </p:spPr>
        <p:txBody>
          <a:bodyPr wrap="square" lIns="0" tIns="0" rIns="0" bIns="0" anchor="t">
            <a:noAutofit/>
          </a:bodyPr>
          <a:lstStyle/>
          <a:p>
            <a:pPr algn="l">
              <a:buNone/>
              <a:defRPr sz="4350" b="1" i="0">
                <a:solidFill>
                  <a:srgbClr val="3D8DFF"/>
                </a:solidFill>
                <a:latin typeface="Arial"/>
                <a:ea typeface="Arial"/>
                <a:cs typeface="Arial"/>
              </a:defRPr>
            </a:pPr>
            <a:r>
              <a:rPr sz="4350" b="1" i="0">
                <a:solidFill>
                  <a:srgbClr val="3D8DFF"/>
                </a:solidFill>
                <a:latin typeface="Arial"/>
                <a:ea typeface="Arial"/>
                <a:cs typeface="Arial"/>
              </a:rPr>
              <a:t>02</a:t>
            </a:r>
          </a:p>
        </p:txBody>
      </p:sp>
      <p:sp>
        <p:nvSpPr>
          <p:cNvPr id="11" name="scope-copy-1">
            <a:extLst>
              <a:ext uri="{FF2B5EF4-FFF2-40B4-BE49-F238E27FC236}">
                <a16:creationId xmlns:a16="http://schemas.microsoft.com/office/drawing/2014/main" id="{60CC5E73-9238-4BDA-AF2C-05A3513AA495}"/>
              </a:ext>
            </a:extLst>
          </p:cNvPr>
          <p:cNvSpPr>
            <a:spLocks noGrp="1"/>
          </p:cNvSpPr>
          <p:nvPr/>
        </p:nvSpPr>
        <p:spPr>
          <a:xfrm>
            <a:off x="4286250" y="3390900"/>
            <a:ext cx="3429000" cy="1619250"/>
          </a:xfrm>
          <a:prstGeom prst="rect">
            <a:avLst/>
          </a:prstGeom>
          <a:noFill/>
          <a:ln w="0">
            <a:noFill/>
            <a:prstDash val="solid"/>
          </a:ln>
        </p:spPr>
        <p:txBody>
          <a:bodyPr wrap="square" lIns="0" tIns="0" rIns="0" bIns="0" anchor="t">
            <a:noAutofit/>
          </a:bodyPr>
          <a:lstStyle/>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Local MiniLM vectors</a:t>
            </a:r>
          </a:p>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pgvector HNSW</a:t>
            </a:r>
          </a:p>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Top-5 cosine matches</a:t>
            </a:r>
          </a:p>
        </p:txBody>
      </p:sp>
      <p:sp>
        <p:nvSpPr>
          <p:cNvPr id="12" name="scope-rule-2">
            <a:extLst>
              <a:ext uri="{FF2B5EF4-FFF2-40B4-BE49-F238E27FC236}">
                <a16:creationId xmlns:a16="http://schemas.microsoft.com/office/drawing/2014/main" id="{2AF49A1D-BE66-4DA8-B79C-A0FBD2307A48}"/>
              </a:ext>
            </a:extLst>
          </p:cNvPr>
          <p:cNvSpPr>
            <a:spLocks noGrp="1"/>
          </p:cNvSpPr>
          <p:nvPr/>
        </p:nvSpPr>
        <p:spPr>
          <a:xfrm>
            <a:off x="7943850" y="1809750"/>
            <a:ext cx="9525" cy="3714750"/>
          </a:xfrm>
          <a:prstGeom prst="rect">
            <a:avLst/>
          </a:prstGeom>
          <a:solidFill>
            <a:srgbClr val="B8BCC4"/>
          </a:solidFill>
          <a:ln w="0">
            <a:solidFill>
              <a:srgbClr val="B8BCC4"/>
            </a:solidFill>
            <a:prstDash val="solid"/>
          </a:ln>
        </p:spPr>
      </p:sp>
      <p:sp>
        <p:nvSpPr>
          <p:cNvPr id="13" name="scope-header-2">
            <a:extLst>
              <a:ext uri="{FF2B5EF4-FFF2-40B4-BE49-F238E27FC236}">
                <a16:creationId xmlns:a16="http://schemas.microsoft.com/office/drawing/2014/main" id="{C6222A1E-8472-4E19-8DF2-E0762523DE5E}"/>
              </a:ext>
            </a:extLst>
          </p:cNvPr>
          <p:cNvSpPr>
            <a:spLocks noGrp="1"/>
          </p:cNvSpPr>
          <p:nvPr/>
        </p:nvSpPr>
        <p:spPr>
          <a:xfrm>
            <a:off x="8172450" y="1847850"/>
            <a:ext cx="3429000" cy="304800"/>
          </a:xfrm>
          <a:prstGeom prst="rect">
            <a:avLst/>
          </a:prstGeom>
          <a:noFill/>
          <a:ln w="0">
            <a:noFill/>
            <a:prstDash val="solid"/>
          </a:ln>
        </p:spPr>
        <p:txBody>
          <a:bodyPr wrap="square" lIns="0" tIns="0" rIns="0" bIns="0" anchor="t">
            <a:noAutofit/>
          </a:bodyPr>
          <a:lstStyle/>
          <a:p>
            <a:pPr algn="l">
              <a:buNone/>
              <a:defRPr sz="1500" b="1" i="0">
                <a:solidFill>
                  <a:srgbClr val="45B98D"/>
                </a:solidFill>
                <a:latin typeface="Arial"/>
                <a:ea typeface="Arial"/>
                <a:cs typeface="Arial"/>
              </a:defRPr>
            </a:pPr>
            <a:r>
              <a:rPr sz="1500" b="1" i="0">
                <a:solidFill>
                  <a:srgbClr val="45B98D"/>
                </a:solidFill>
                <a:latin typeface="Arial"/>
                <a:ea typeface="Arial"/>
                <a:cs typeface="Arial"/>
              </a:rPr>
              <a:t>INTERVIEW</a:t>
            </a:r>
          </a:p>
        </p:txBody>
      </p:sp>
      <p:sp>
        <p:nvSpPr>
          <p:cNvPr id="14" name="scope-index-2">
            <a:extLst>
              <a:ext uri="{FF2B5EF4-FFF2-40B4-BE49-F238E27FC236}">
                <a16:creationId xmlns:a16="http://schemas.microsoft.com/office/drawing/2014/main" id="{F7A3CEEA-FB64-4723-8D2C-48250467DB2C}"/>
              </a:ext>
            </a:extLst>
          </p:cNvPr>
          <p:cNvSpPr>
            <a:spLocks noGrp="1"/>
          </p:cNvSpPr>
          <p:nvPr/>
        </p:nvSpPr>
        <p:spPr>
          <a:xfrm>
            <a:off x="8172450" y="2400300"/>
            <a:ext cx="3429000" cy="762000"/>
          </a:xfrm>
          <a:prstGeom prst="rect">
            <a:avLst/>
          </a:prstGeom>
          <a:noFill/>
          <a:ln w="0">
            <a:noFill/>
            <a:prstDash val="solid"/>
          </a:ln>
        </p:spPr>
        <p:txBody>
          <a:bodyPr wrap="square" lIns="0" tIns="0" rIns="0" bIns="0" anchor="t">
            <a:noAutofit/>
          </a:bodyPr>
          <a:lstStyle/>
          <a:p>
            <a:pPr algn="l">
              <a:buNone/>
              <a:defRPr sz="4350" b="1" i="0">
                <a:solidFill>
                  <a:srgbClr val="45B98D"/>
                </a:solidFill>
                <a:latin typeface="Arial"/>
                <a:ea typeface="Arial"/>
                <a:cs typeface="Arial"/>
              </a:defRPr>
            </a:pPr>
            <a:r>
              <a:rPr sz="4350" b="1" i="0">
                <a:solidFill>
                  <a:srgbClr val="45B98D"/>
                </a:solidFill>
                <a:latin typeface="Arial"/>
                <a:ea typeface="Arial"/>
                <a:cs typeface="Arial"/>
              </a:rPr>
              <a:t>03</a:t>
            </a:r>
          </a:p>
        </p:txBody>
      </p:sp>
      <p:sp>
        <p:nvSpPr>
          <p:cNvPr id="15" name="scope-copy-2">
            <a:extLst>
              <a:ext uri="{FF2B5EF4-FFF2-40B4-BE49-F238E27FC236}">
                <a16:creationId xmlns:a16="http://schemas.microsoft.com/office/drawing/2014/main" id="{B16FE5DB-6673-48C2-9A5C-8986ECAF2D0B}"/>
              </a:ext>
            </a:extLst>
          </p:cNvPr>
          <p:cNvSpPr>
            <a:spLocks noGrp="1"/>
          </p:cNvSpPr>
          <p:nvPr/>
        </p:nvSpPr>
        <p:spPr>
          <a:xfrm>
            <a:off x="8172450" y="3390900"/>
            <a:ext cx="3429000" cy="1619250"/>
          </a:xfrm>
          <a:prstGeom prst="rect">
            <a:avLst/>
          </a:prstGeom>
          <a:noFill/>
          <a:ln w="0">
            <a:noFill/>
            <a:prstDash val="solid"/>
          </a:ln>
        </p:spPr>
        <p:txBody>
          <a:bodyPr wrap="square" lIns="0" tIns="0" rIns="0" bIns="0" anchor="t">
            <a:noAutofit/>
          </a:bodyPr>
          <a:lstStyle/>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Normal plan first</a:t>
            </a:r>
          </a:p>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Final project question</a:t>
            </a:r>
          </a:p>
          <a:p>
            <a:pPr algn="l">
              <a:buNone/>
              <a:defRPr sz="1800" b="0" i="0">
                <a:solidFill>
                  <a:srgbClr val="111111"/>
                </a:solidFill>
                <a:latin typeface="Arial"/>
                <a:ea typeface="Arial"/>
                <a:cs typeface="Arial"/>
              </a:defRPr>
            </a:pPr>
            <a:r>
              <a:rPr sz="1800" b="0" i="0">
                <a:solidFill>
                  <a:srgbClr val="111111"/>
                </a:solidFill>
                <a:latin typeface="Arial"/>
                <a:ea typeface="Arial"/>
                <a:cs typeface="Arial"/>
              </a:rPr>
              <a:t>Background enrichment</a:t>
            </a:r>
          </a:p>
        </p:txBody>
      </p:sp>
      <p:sp>
        <p:nvSpPr>
          <p:cNvPr id="16" name="scope-takeaway">
            <a:extLst>
              <a:ext uri="{FF2B5EF4-FFF2-40B4-BE49-F238E27FC236}">
                <a16:creationId xmlns:a16="http://schemas.microsoft.com/office/drawing/2014/main" id="{16FDED03-4665-49C0-9119-29A97FBDB531}"/>
              </a:ext>
            </a:extLst>
          </p:cNvPr>
          <p:cNvSpPr>
            <a:spLocks noGrp="1"/>
          </p:cNvSpPr>
          <p:nvPr/>
        </p:nvSpPr>
        <p:spPr>
          <a:xfrm>
            <a:off x="400050" y="5810250"/>
            <a:ext cx="10477500" cy="342900"/>
          </a:xfrm>
          <a:prstGeom prst="rect">
            <a:avLst/>
          </a:prstGeom>
          <a:noFill/>
          <a:ln w="0">
            <a:noFill/>
            <a:prstDash val="solid"/>
          </a:ln>
        </p:spPr>
        <p:txBody>
          <a:bodyPr wrap="square" lIns="0" tIns="0" rIns="0" bIns="0" anchor="t">
            <a:noAutofit/>
          </a:bodyPr>
          <a:lstStyle/>
          <a:p>
            <a:pPr algn="l">
              <a:buNone/>
              <a:defRPr sz="1800" b="1" i="0">
                <a:solidFill>
                  <a:srgbClr val="111111"/>
                </a:solidFill>
                <a:latin typeface="Arial"/>
                <a:ea typeface="Arial"/>
                <a:cs typeface="Arial"/>
              </a:defRPr>
            </a:pPr>
            <a:r>
              <a:rPr sz="1800" b="1" i="0">
                <a:solidFill>
                  <a:srgbClr val="111111"/>
                </a:solidFill>
                <a:latin typeface="Arial"/>
                <a:ea typeface="Arial"/>
                <a:cs typeface="Arial"/>
              </a:rPr>
              <a:t>The change stays additive: no project selected means the original interview flow is unchanged.</a:t>
            </a:r>
          </a:p>
        </p:txBody>
      </p:sp>
    </p:spTree>
    <p:extLst>
      <p:ext uri="{BB962C8B-B14F-4D97-AF65-F5344CB8AC3E}">
        <p14:creationId xmlns:p14="http://schemas.microsoft.com/office/powerpoint/2010/main" val="1325029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eyebrow-4">
            <a:extLst>
              <a:ext uri="{FF2B5EF4-FFF2-40B4-BE49-F238E27FC236}">
                <a16:creationId xmlns:a16="http://schemas.microsoft.com/office/drawing/2014/main" id="{D43E7404-36AC-4CE9-9CEA-038C7B58D3D2}"/>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4">
            <a:extLst>
              <a:ext uri="{FF2B5EF4-FFF2-40B4-BE49-F238E27FC236}">
                <a16:creationId xmlns:a16="http://schemas.microsoft.com/office/drawing/2014/main" id="{18896FF2-10D1-4483-A804-809EA2A71494}"/>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Build RAG turns each page into searchable evidence</a:t>
            </a:r>
          </a:p>
        </p:txBody>
      </p:sp>
      <p:sp>
        <p:nvSpPr>
          <p:cNvPr id="3" name="title-rule-4">
            <a:extLst>
              <a:ext uri="{FF2B5EF4-FFF2-40B4-BE49-F238E27FC236}">
                <a16:creationId xmlns:a16="http://schemas.microsoft.com/office/drawing/2014/main" id="{54DD5230-AB83-4770-887E-3B9A939AEB21}"/>
              </a:ext>
            </a:extLst>
          </p:cNvPr>
          <p:cNvSpPr>
            <a:spLocks noGrp="1"/>
          </p:cNvSpPr>
          <p:nvPr/>
        </p:nvSpPr>
        <p:spPr>
          <a:xfrm>
            <a:off x="400050" y="1362075"/>
            <a:ext cx="11391900" cy="9525"/>
          </a:xfrm>
          <a:prstGeom prst="rect">
            <a:avLst/>
          </a:prstGeom>
          <a:solidFill>
            <a:srgbClr val="B8BCC4"/>
          </a:solidFill>
          <a:ln w="0">
            <a:solidFill>
              <a:srgbClr val="B8BCC4"/>
            </a:solidFill>
            <a:prstDash val="solid"/>
          </a:ln>
        </p:spPr>
      </p:sp>
      <p:sp>
        <p:nvSpPr>
          <p:cNvPr id="4" name="slide-number-4">
            <a:extLst>
              <a:ext uri="{FF2B5EF4-FFF2-40B4-BE49-F238E27FC236}">
                <a16:creationId xmlns:a16="http://schemas.microsoft.com/office/drawing/2014/main" id="{D9769CAA-4619-42F3-B21F-C0636C0838CD}"/>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04</a:t>
            </a:r>
          </a:p>
        </p:txBody>
      </p:sp>
      <p:sp>
        <p:nvSpPr>
          <p:cNvPr id="5" name="arch-node-0">
            <a:extLst>
              <a:ext uri="{FF2B5EF4-FFF2-40B4-BE49-F238E27FC236}">
                <a16:creationId xmlns:a16="http://schemas.microsoft.com/office/drawing/2014/main" id="{06BAA2F4-2653-4003-989F-70D8B1504E76}"/>
              </a:ext>
            </a:extLst>
          </p:cNvPr>
          <p:cNvSpPr>
            <a:spLocks noGrp="1"/>
          </p:cNvSpPr>
          <p:nvPr/>
        </p:nvSpPr>
        <p:spPr>
          <a:xfrm>
            <a:off x="400050" y="2305050"/>
            <a:ext cx="1543050" cy="1714500"/>
          </a:xfrm>
          <a:prstGeom prst="rect">
            <a:avLst/>
          </a:prstGeom>
          <a:solidFill>
            <a:srgbClr val="F6F6F7"/>
          </a:solidFill>
          <a:ln w="9525">
            <a:solidFill>
              <a:srgbClr val="B8BCC4"/>
            </a:solidFill>
            <a:prstDash val="solid"/>
          </a:ln>
        </p:spPr>
      </p:sp>
      <p:sp>
        <p:nvSpPr>
          <p:cNvPr id="6" name="arch-node-1">
            <a:extLst>
              <a:ext uri="{FF2B5EF4-FFF2-40B4-BE49-F238E27FC236}">
                <a16:creationId xmlns:a16="http://schemas.microsoft.com/office/drawing/2014/main" id="{95F10B7F-2E1B-4504-B2A4-344CF6D32085}"/>
              </a:ext>
            </a:extLst>
          </p:cNvPr>
          <p:cNvSpPr>
            <a:spLocks noGrp="1"/>
          </p:cNvSpPr>
          <p:nvPr/>
        </p:nvSpPr>
        <p:spPr>
          <a:xfrm>
            <a:off x="2324100" y="2305050"/>
            <a:ext cx="1543050" cy="1714500"/>
          </a:xfrm>
          <a:prstGeom prst="rect">
            <a:avLst/>
          </a:prstGeom>
          <a:solidFill>
            <a:srgbClr val="F6F6F7"/>
          </a:solidFill>
          <a:ln w="9525">
            <a:solidFill>
              <a:srgbClr val="B8BCC4"/>
            </a:solidFill>
            <a:prstDash val="solid"/>
          </a:ln>
        </p:spPr>
      </p:sp>
      <p:sp>
        <p:nvSpPr>
          <p:cNvPr id="7" name="arch-node-2">
            <a:extLst>
              <a:ext uri="{FF2B5EF4-FFF2-40B4-BE49-F238E27FC236}">
                <a16:creationId xmlns:a16="http://schemas.microsoft.com/office/drawing/2014/main" id="{71D43DE6-E718-4735-A935-3C5392E44F10}"/>
              </a:ext>
            </a:extLst>
          </p:cNvPr>
          <p:cNvSpPr>
            <a:spLocks noGrp="1"/>
          </p:cNvSpPr>
          <p:nvPr/>
        </p:nvSpPr>
        <p:spPr>
          <a:xfrm>
            <a:off x="4248150" y="2305050"/>
            <a:ext cx="1543050" cy="1714500"/>
          </a:xfrm>
          <a:prstGeom prst="rect">
            <a:avLst/>
          </a:prstGeom>
          <a:solidFill>
            <a:srgbClr val="F6F6F7"/>
          </a:solidFill>
          <a:ln w="9525">
            <a:solidFill>
              <a:srgbClr val="B8BCC4"/>
            </a:solidFill>
            <a:prstDash val="solid"/>
          </a:ln>
        </p:spPr>
      </p:sp>
      <p:sp>
        <p:nvSpPr>
          <p:cNvPr id="8" name="arch-node-3">
            <a:extLst>
              <a:ext uri="{FF2B5EF4-FFF2-40B4-BE49-F238E27FC236}">
                <a16:creationId xmlns:a16="http://schemas.microsoft.com/office/drawing/2014/main" id="{E20866B7-18AF-48F3-9FD7-993B144F23E9}"/>
              </a:ext>
            </a:extLst>
          </p:cNvPr>
          <p:cNvSpPr>
            <a:spLocks noGrp="1"/>
          </p:cNvSpPr>
          <p:nvPr/>
        </p:nvSpPr>
        <p:spPr>
          <a:xfrm>
            <a:off x="6172200" y="2305050"/>
            <a:ext cx="1543050" cy="1714500"/>
          </a:xfrm>
          <a:prstGeom prst="rect">
            <a:avLst/>
          </a:prstGeom>
          <a:solidFill>
            <a:srgbClr val="F6F6F7"/>
          </a:solidFill>
          <a:ln w="9525">
            <a:solidFill>
              <a:srgbClr val="B8BCC4"/>
            </a:solidFill>
            <a:prstDash val="solid"/>
          </a:ln>
        </p:spPr>
      </p:sp>
      <p:sp>
        <p:nvSpPr>
          <p:cNvPr id="9" name="arch-node-4">
            <a:extLst>
              <a:ext uri="{FF2B5EF4-FFF2-40B4-BE49-F238E27FC236}">
                <a16:creationId xmlns:a16="http://schemas.microsoft.com/office/drawing/2014/main" id="{E361C5A4-72A1-476D-8F10-007DB04442FF}"/>
              </a:ext>
            </a:extLst>
          </p:cNvPr>
          <p:cNvSpPr>
            <a:spLocks noGrp="1"/>
          </p:cNvSpPr>
          <p:nvPr/>
        </p:nvSpPr>
        <p:spPr>
          <a:xfrm>
            <a:off x="8096250" y="2305050"/>
            <a:ext cx="1543050" cy="1714500"/>
          </a:xfrm>
          <a:prstGeom prst="rect">
            <a:avLst/>
          </a:prstGeom>
          <a:solidFill>
            <a:srgbClr val="EEE8FF"/>
          </a:solidFill>
          <a:ln w="9525">
            <a:solidFill>
              <a:srgbClr val="5A36B5"/>
            </a:solidFill>
            <a:prstDash val="solid"/>
          </a:ln>
        </p:spPr>
      </p:sp>
      <p:sp>
        <p:nvSpPr>
          <p:cNvPr id="10" name="arch-node-5">
            <a:extLst>
              <a:ext uri="{FF2B5EF4-FFF2-40B4-BE49-F238E27FC236}">
                <a16:creationId xmlns:a16="http://schemas.microsoft.com/office/drawing/2014/main" id="{29C4031E-AF69-4E58-A855-D5A2EA718A93}"/>
              </a:ext>
            </a:extLst>
          </p:cNvPr>
          <p:cNvSpPr>
            <a:spLocks noGrp="1"/>
          </p:cNvSpPr>
          <p:nvPr/>
        </p:nvSpPr>
        <p:spPr>
          <a:xfrm>
            <a:off x="10020300" y="2305050"/>
            <a:ext cx="1543050" cy="1714500"/>
          </a:xfrm>
          <a:prstGeom prst="rect">
            <a:avLst/>
          </a:prstGeom>
          <a:solidFill>
            <a:srgbClr val="F6F6F7"/>
          </a:solidFill>
          <a:ln w="9525">
            <a:solidFill>
              <a:srgbClr val="B8BCC4"/>
            </a:solidFill>
            <a:prstDash val="solid"/>
          </a:ln>
        </p:spPr>
      </p:sp>
      <p:cxnSp>
        <p:nvCxnSpPr>
          <p:cNvPr id="77" name="Straight Arrow Connector 76"/>
          <p:cNvCxnSpPr>
            <a:stCxn id="5" idx="3"/>
            <a:endCxn id="6" idx="1"/>
          </p:cNvCxnSpPr>
          <p:nvPr/>
        </p:nvCxnSpPr>
        <p:spPr>
          <a:xfrm>
            <a:off x="1943100" y="3162300"/>
            <a:ext cx="381000" cy="0"/>
          </a:xfrm>
          <a:prstGeom prst="straightConnector1">
            <a:avLst/>
          </a:prstGeom>
          <a:ln w="19050">
            <a:solidFill>
              <a:srgbClr val="B8BCC4"/>
            </a:solidFill>
            <a:prstDash val="solid"/>
            <a:tailEnd type="arrow" w="med" len="med"/>
          </a:ln>
        </p:spPr>
      </p:cxnSp>
      <p:cxnSp>
        <p:nvCxnSpPr>
          <p:cNvPr id="78" name="Straight Arrow Connector 77"/>
          <p:cNvCxnSpPr>
            <a:stCxn id="6" idx="3"/>
            <a:endCxn id="7" idx="1"/>
          </p:cNvCxnSpPr>
          <p:nvPr/>
        </p:nvCxnSpPr>
        <p:spPr>
          <a:xfrm>
            <a:off x="3867150" y="3162300"/>
            <a:ext cx="381000" cy="0"/>
          </a:xfrm>
          <a:prstGeom prst="straightConnector1">
            <a:avLst/>
          </a:prstGeom>
          <a:ln w="19050">
            <a:solidFill>
              <a:srgbClr val="B8BCC4"/>
            </a:solidFill>
            <a:prstDash val="solid"/>
            <a:tailEnd type="arrow" w="med" len="med"/>
          </a:ln>
        </p:spPr>
      </p:cxnSp>
      <p:cxnSp>
        <p:nvCxnSpPr>
          <p:cNvPr id="79" name="Straight Arrow Connector 78"/>
          <p:cNvCxnSpPr>
            <a:stCxn id="7" idx="3"/>
            <a:endCxn id="8" idx="1"/>
          </p:cNvCxnSpPr>
          <p:nvPr/>
        </p:nvCxnSpPr>
        <p:spPr>
          <a:xfrm>
            <a:off x="5791200" y="3162300"/>
            <a:ext cx="381000" cy="0"/>
          </a:xfrm>
          <a:prstGeom prst="straightConnector1">
            <a:avLst/>
          </a:prstGeom>
          <a:ln w="19050">
            <a:solidFill>
              <a:srgbClr val="B8BCC4"/>
            </a:solidFill>
            <a:prstDash val="solid"/>
            <a:tailEnd type="arrow" w="med" len="med"/>
          </a:ln>
        </p:spPr>
      </p:cxnSp>
      <p:cxnSp>
        <p:nvCxnSpPr>
          <p:cNvPr id="80" name="Straight Arrow Connector 79"/>
          <p:cNvCxnSpPr>
            <a:stCxn id="8" idx="3"/>
            <a:endCxn id="9" idx="1"/>
          </p:cNvCxnSpPr>
          <p:nvPr/>
        </p:nvCxnSpPr>
        <p:spPr>
          <a:xfrm>
            <a:off x="7715250" y="3162300"/>
            <a:ext cx="381000" cy="0"/>
          </a:xfrm>
          <a:prstGeom prst="straightConnector1">
            <a:avLst/>
          </a:prstGeom>
          <a:ln w="19050">
            <a:solidFill>
              <a:srgbClr val="5A36B5"/>
            </a:solidFill>
            <a:prstDash val="solid"/>
            <a:tailEnd type="arrow" w="med" len="med"/>
          </a:ln>
        </p:spPr>
      </p:cxnSp>
      <p:cxnSp>
        <p:nvCxnSpPr>
          <p:cNvPr id="81" name="Straight Arrow Connector 80"/>
          <p:cNvCxnSpPr>
            <a:stCxn id="9" idx="3"/>
            <a:endCxn id="10" idx="1"/>
          </p:cNvCxnSpPr>
          <p:nvPr/>
        </p:nvCxnSpPr>
        <p:spPr>
          <a:xfrm>
            <a:off x="9639300" y="3162300"/>
            <a:ext cx="381000" cy="0"/>
          </a:xfrm>
          <a:prstGeom prst="straightConnector1">
            <a:avLst/>
          </a:prstGeom>
          <a:ln w="19050">
            <a:solidFill>
              <a:srgbClr val="B8BCC4"/>
            </a:solidFill>
            <a:prstDash val="solid"/>
            <a:tailEnd type="arrow" w="med" len="med"/>
          </a:ln>
        </p:spPr>
      </p:cxnSp>
      <p:sp>
        <p:nvSpPr>
          <p:cNvPr id="16" name="arch-num-0">
            <a:extLst>
              <a:ext uri="{FF2B5EF4-FFF2-40B4-BE49-F238E27FC236}">
                <a16:creationId xmlns:a16="http://schemas.microsoft.com/office/drawing/2014/main" id="{4C59EEF9-F571-48D5-B821-0E92DC7A6B01}"/>
              </a:ext>
            </a:extLst>
          </p:cNvPr>
          <p:cNvSpPr>
            <a:spLocks noGrp="1"/>
          </p:cNvSpPr>
          <p:nvPr/>
        </p:nvSpPr>
        <p:spPr>
          <a:xfrm>
            <a:off x="552450" y="2457450"/>
            <a:ext cx="571500" cy="266700"/>
          </a:xfrm>
          <a:prstGeom prst="rect">
            <a:avLst/>
          </a:prstGeom>
          <a:noFill/>
          <a:ln w="0">
            <a:noFill/>
            <a:prstDash val="solid"/>
          </a:ln>
        </p:spPr>
        <p:txBody>
          <a:bodyPr wrap="square" lIns="0" tIns="0" rIns="0" bIns="0" anchor="t">
            <a:noAutofit/>
          </a:bodyPr>
          <a:lstStyle/>
          <a:p>
            <a:pPr algn="l">
              <a:buNone/>
              <a:defRPr sz="1350" b="1" i="0">
                <a:solidFill>
                  <a:srgbClr val="5D6470"/>
                </a:solidFill>
                <a:latin typeface="Arial"/>
                <a:ea typeface="Arial"/>
                <a:cs typeface="Arial"/>
              </a:defRPr>
            </a:pPr>
            <a:r>
              <a:rPr sz="1350" b="1" i="0">
                <a:solidFill>
                  <a:srgbClr val="5D6470"/>
                </a:solidFill>
                <a:latin typeface="Arial"/>
                <a:ea typeface="Arial"/>
                <a:cs typeface="Arial"/>
              </a:rPr>
              <a:t>01</a:t>
            </a:r>
          </a:p>
        </p:txBody>
      </p:sp>
      <p:sp>
        <p:nvSpPr>
          <p:cNvPr id="17" name="arch-title-0">
            <a:extLst>
              <a:ext uri="{FF2B5EF4-FFF2-40B4-BE49-F238E27FC236}">
                <a16:creationId xmlns:a16="http://schemas.microsoft.com/office/drawing/2014/main" id="{14116D13-2F54-484B-BED3-0937BFA8DE3C}"/>
              </a:ext>
            </a:extLst>
          </p:cNvPr>
          <p:cNvSpPr>
            <a:spLocks noGrp="1"/>
          </p:cNvSpPr>
          <p:nvPr/>
        </p:nvSpPr>
        <p:spPr>
          <a:xfrm>
            <a:off x="552450" y="2924175"/>
            <a:ext cx="1238250" cy="476250"/>
          </a:xfrm>
          <a:prstGeom prst="rect">
            <a:avLst/>
          </a:prstGeom>
          <a:noFill/>
          <a:ln w="0">
            <a:noFill/>
            <a:prstDash val="solid"/>
          </a:ln>
        </p:spPr>
        <p:txBody>
          <a:bodyPr wrap="square" lIns="0" tIns="0" rIns="0" bIns="0" anchor="t">
            <a:no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Save page</a:t>
            </a:r>
          </a:p>
        </p:txBody>
      </p:sp>
      <p:sp>
        <p:nvSpPr>
          <p:cNvPr id="18" name="arch-sub-0">
            <a:extLst>
              <a:ext uri="{FF2B5EF4-FFF2-40B4-BE49-F238E27FC236}">
                <a16:creationId xmlns:a16="http://schemas.microsoft.com/office/drawing/2014/main" id="{29856BBD-F34E-482B-8915-AB648DC1C421}"/>
              </a:ext>
            </a:extLst>
          </p:cNvPr>
          <p:cNvSpPr>
            <a:spLocks noGrp="1"/>
          </p:cNvSpPr>
          <p:nvPr/>
        </p:nvSpPr>
        <p:spPr>
          <a:xfrm>
            <a:off x="552450" y="3514725"/>
            <a:ext cx="1238250" cy="323850"/>
          </a:xfrm>
          <a:prstGeom prst="rect">
            <a:avLst/>
          </a:prstGeom>
          <a:noFill/>
          <a:ln w="0">
            <a:noFill/>
            <a:prstDash val="solid"/>
          </a:ln>
        </p:spPr>
        <p:txBody>
          <a:bodyPr wrap="square" lIns="0" tIns="0" rIns="0" bIns="0" anchor="t">
            <a:noAutofit/>
          </a:bodyPr>
          <a:lstStyle/>
          <a:p>
            <a:pPr algn="ctr">
              <a:buNone/>
              <a:defRPr sz="1275" b="0" i="0">
                <a:solidFill>
                  <a:srgbClr val="5D6470"/>
                </a:solidFill>
                <a:latin typeface="Arial"/>
                <a:ea typeface="Arial"/>
                <a:cs typeface="Arial"/>
              </a:defRPr>
            </a:pPr>
            <a:r>
              <a:rPr sz="1275" b="0" i="0">
                <a:solidFill>
                  <a:srgbClr val="5D6470"/>
                </a:solidFill>
                <a:latin typeface="Arial"/>
                <a:ea typeface="Arial"/>
                <a:cs typeface="Arial"/>
              </a:rPr>
              <a:t>Text + images</a:t>
            </a:r>
          </a:p>
        </p:txBody>
      </p:sp>
      <p:sp>
        <p:nvSpPr>
          <p:cNvPr id="19" name="arch-num-1">
            <a:extLst>
              <a:ext uri="{FF2B5EF4-FFF2-40B4-BE49-F238E27FC236}">
                <a16:creationId xmlns:a16="http://schemas.microsoft.com/office/drawing/2014/main" id="{4E69D755-B21A-4E0D-AD46-E3C68AE0FC9D}"/>
              </a:ext>
            </a:extLst>
          </p:cNvPr>
          <p:cNvSpPr>
            <a:spLocks noGrp="1"/>
          </p:cNvSpPr>
          <p:nvPr/>
        </p:nvSpPr>
        <p:spPr>
          <a:xfrm>
            <a:off x="2476500" y="2457450"/>
            <a:ext cx="571500" cy="266700"/>
          </a:xfrm>
          <a:prstGeom prst="rect">
            <a:avLst/>
          </a:prstGeom>
          <a:noFill/>
          <a:ln w="0">
            <a:noFill/>
            <a:prstDash val="solid"/>
          </a:ln>
        </p:spPr>
        <p:txBody>
          <a:bodyPr wrap="square" lIns="0" tIns="0" rIns="0" bIns="0" anchor="t">
            <a:noAutofit/>
          </a:bodyPr>
          <a:lstStyle/>
          <a:p>
            <a:pPr algn="l">
              <a:buNone/>
              <a:defRPr sz="1350" b="1" i="0">
                <a:solidFill>
                  <a:srgbClr val="5D6470"/>
                </a:solidFill>
                <a:latin typeface="Arial"/>
                <a:ea typeface="Arial"/>
                <a:cs typeface="Arial"/>
              </a:defRPr>
            </a:pPr>
            <a:r>
              <a:rPr sz="1350" b="1" i="0">
                <a:solidFill>
                  <a:srgbClr val="5D6470"/>
                </a:solidFill>
                <a:latin typeface="Arial"/>
                <a:ea typeface="Arial"/>
                <a:cs typeface="Arial"/>
              </a:rPr>
              <a:t>02</a:t>
            </a:r>
          </a:p>
        </p:txBody>
      </p:sp>
      <p:sp>
        <p:nvSpPr>
          <p:cNvPr id="20" name="arch-title-1">
            <a:extLst>
              <a:ext uri="{FF2B5EF4-FFF2-40B4-BE49-F238E27FC236}">
                <a16:creationId xmlns:a16="http://schemas.microsoft.com/office/drawing/2014/main" id="{EFB5FD9C-AA0B-4B00-8C1F-390F906F17E2}"/>
              </a:ext>
            </a:extLst>
          </p:cNvPr>
          <p:cNvSpPr>
            <a:spLocks noGrp="1"/>
          </p:cNvSpPr>
          <p:nvPr/>
        </p:nvSpPr>
        <p:spPr>
          <a:xfrm>
            <a:off x="2476500" y="2924175"/>
            <a:ext cx="1238250" cy="476250"/>
          </a:xfrm>
          <a:prstGeom prst="rect">
            <a:avLst/>
          </a:prstGeom>
          <a:noFill/>
          <a:ln w="0">
            <a:noFill/>
            <a:prstDash val="solid"/>
          </a:ln>
        </p:spPr>
        <p:txBody>
          <a:bodyPr wrap="square" lIns="0" tIns="0" rIns="0" bIns="0" anchor="t">
            <a:no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Extract</a:t>
            </a:r>
          </a:p>
        </p:txBody>
      </p:sp>
      <p:sp>
        <p:nvSpPr>
          <p:cNvPr id="21" name="arch-sub-1">
            <a:extLst>
              <a:ext uri="{FF2B5EF4-FFF2-40B4-BE49-F238E27FC236}">
                <a16:creationId xmlns:a16="http://schemas.microsoft.com/office/drawing/2014/main" id="{23BB360A-CECC-456B-8603-0CB4D20CD19C}"/>
              </a:ext>
            </a:extLst>
          </p:cNvPr>
          <p:cNvSpPr>
            <a:spLocks noGrp="1"/>
          </p:cNvSpPr>
          <p:nvPr/>
        </p:nvSpPr>
        <p:spPr>
          <a:xfrm>
            <a:off x="2476500" y="3514725"/>
            <a:ext cx="1238250" cy="323850"/>
          </a:xfrm>
          <a:prstGeom prst="rect">
            <a:avLst/>
          </a:prstGeom>
          <a:noFill/>
          <a:ln w="0">
            <a:noFill/>
            <a:prstDash val="solid"/>
          </a:ln>
        </p:spPr>
        <p:txBody>
          <a:bodyPr wrap="square" lIns="0" tIns="0" rIns="0" bIns="0" anchor="t">
            <a:noAutofit/>
          </a:bodyPr>
          <a:lstStyle/>
          <a:p>
            <a:pPr algn="ctr">
              <a:buNone/>
              <a:defRPr sz="1275" b="0" i="0">
                <a:solidFill>
                  <a:srgbClr val="5D6470"/>
                </a:solidFill>
                <a:latin typeface="Arial"/>
                <a:ea typeface="Arial"/>
                <a:cs typeface="Arial"/>
              </a:defRPr>
            </a:pPr>
            <a:r>
              <a:rPr sz="1275" b="0" i="0">
                <a:solidFill>
                  <a:srgbClr val="5D6470"/>
                </a:solidFill>
                <a:latin typeface="Arial"/>
                <a:ea typeface="Arial"/>
                <a:cs typeface="Arial"/>
              </a:rPr>
              <a:t>Chunk / vision</a:t>
            </a:r>
          </a:p>
        </p:txBody>
      </p:sp>
      <p:sp>
        <p:nvSpPr>
          <p:cNvPr id="22" name="arch-num-2">
            <a:extLst>
              <a:ext uri="{FF2B5EF4-FFF2-40B4-BE49-F238E27FC236}">
                <a16:creationId xmlns:a16="http://schemas.microsoft.com/office/drawing/2014/main" id="{5298B748-BDAB-4184-B4AD-DFE6CFCBB912}"/>
              </a:ext>
            </a:extLst>
          </p:cNvPr>
          <p:cNvSpPr>
            <a:spLocks noGrp="1"/>
          </p:cNvSpPr>
          <p:nvPr/>
        </p:nvSpPr>
        <p:spPr>
          <a:xfrm>
            <a:off x="4400550" y="2457450"/>
            <a:ext cx="571500" cy="266700"/>
          </a:xfrm>
          <a:prstGeom prst="rect">
            <a:avLst/>
          </a:prstGeom>
          <a:noFill/>
          <a:ln w="0">
            <a:noFill/>
            <a:prstDash val="solid"/>
          </a:ln>
        </p:spPr>
        <p:txBody>
          <a:bodyPr wrap="square" lIns="0" tIns="0" rIns="0" bIns="0" anchor="t">
            <a:noAutofit/>
          </a:bodyPr>
          <a:lstStyle/>
          <a:p>
            <a:pPr algn="l">
              <a:buNone/>
              <a:defRPr sz="1350" b="1" i="0">
                <a:solidFill>
                  <a:srgbClr val="5D6470"/>
                </a:solidFill>
                <a:latin typeface="Arial"/>
                <a:ea typeface="Arial"/>
                <a:cs typeface="Arial"/>
              </a:defRPr>
            </a:pPr>
            <a:r>
              <a:rPr sz="1350" b="1" i="0">
                <a:solidFill>
                  <a:srgbClr val="5D6470"/>
                </a:solidFill>
                <a:latin typeface="Arial"/>
                <a:ea typeface="Arial"/>
                <a:cs typeface="Arial"/>
              </a:rPr>
              <a:t>03</a:t>
            </a:r>
          </a:p>
        </p:txBody>
      </p:sp>
      <p:sp>
        <p:nvSpPr>
          <p:cNvPr id="23" name="arch-title-2">
            <a:extLst>
              <a:ext uri="{FF2B5EF4-FFF2-40B4-BE49-F238E27FC236}">
                <a16:creationId xmlns:a16="http://schemas.microsoft.com/office/drawing/2014/main" id="{0680806D-CE82-402A-A86D-CAA206FB47FA}"/>
              </a:ext>
            </a:extLst>
          </p:cNvPr>
          <p:cNvSpPr>
            <a:spLocks noGrp="1"/>
          </p:cNvSpPr>
          <p:nvPr/>
        </p:nvSpPr>
        <p:spPr>
          <a:xfrm>
            <a:off x="4400550" y="2924175"/>
            <a:ext cx="1238250" cy="476250"/>
          </a:xfrm>
          <a:prstGeom prst="rect">
            <a:avLst/>
          </a:prstGeom>
          <a:noFill/>
          <a:ln w="0">
            <a:noFill/>
            <a:prstDash val="solid"/>
          </a:ln>
        </p:spPr>
        <p:txBody>
          <a:bodyPr wrap="square" lIns="0" tIns="0" rIns="0" bIns="0" anchor="t">
            <a:no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Describe</a:t>
            </a:r>
          </a:p>
        </p:txBody>
      </p:sp>
      <p:sp>
        <p:nvSpPr>
          <p:cNvPr id="24" name="arch-sub-2">
            <a:extLst>
              <a:ext uri="{FF2B5EF4-FFF2-40B4-BE49-F238E27FC236}">
                <a16:creationId xmlns:a16="http://schemas.microsoft.com/office/drawing/2014/main" id="{FA42EC26-169C-48D3-B999-B1542F1E214E}"/>
              </a:ext>
            </a:extLst>
          </p:cNvPr>
          <p:cNvSpPr>
            <a:spLocks noGrp="1"/>
          </p:cNvSpPr>
          <p:nvPr/>
        </p:nvSpPr>
        <p:spPr>
          <a:xfrm>
            <a:off x="4400550" y="3514725"/>
            <a:ext cx="1238250" cy="323850"/>
          </a:xfrm>
          <a:prstGeom prst="rect">
            <a:avLst/>
          </a:prstGeom>
          <a:noFill/>
          <a:ln w="0">
            <a:noFill/>
            <a:prstDash val="solid"/>
          </a:ln>
        </p:spPr>
        <p:txBody>
          <a:bodyPr wrap="square" lIns="0" tIns="0" rIns="0" bIns="0" anchor="t">
            <a:noAutofit/>
          </a:bodyPr>
          <a:lstStyle/>
          <a:p>
            <a:pPr algn="ctr">
              <a:buNone/>
              <a:defRPr sz="1275" b="0" i="0">
                <a:solidFill>
                  <a:srgbClr val="5D6470"/>
                </a:solidFill>
                <a:latin typeface="Arial"/>
                <a:ea typeface="Arial"/>
                <a:cs typeface="Arial"/>
              </a:defRPr>
            </a:pPr>
            <a:r>
              <a:rPr sz="1275" b="0" i="0">
                <a:solidFill>
                  <a:srgbClr val="5D6470"/>
                </a:solidFill>
                <a:latin typeface="Arial"/>
                <a:ea typeface="Arial"/>
                <a:cs typeface="Arial"/>
              </a:rPr>
              <a:t>English context</a:t>
            </a:r>
          </a:p>
        </p:txBody>
      </p:sp>
      <p:sp>
        <p:nvSpPr>
          <p:cNvPr id="25" name="arch-num-3">
            <a:extLst>
              <a:ext uri="{FF2B5EF4-FFF2-40B4-BE49-F238E27FC236}">
                <a16:creationId xmlns:a16="http://schemas.microsoft.com/office/drawing/2014/main" id="{0F8F7D1E-70C6-40F8-8A7A-198EA905F53E}"/>
              </a:ext>
            </a:extLst>
          </p:cNvPr>
          <p:cNvSpPr>
            <a:spLocks noGrp="1"/>
          </p:cNvSpPr>
          <p:nvPr/>
        </p:nvSpPr>
        <p:spPr>
          <a:xfrm>
            <a:off x="6324600" y="2457450"/>
            <a:ext cx="571500" cy="266700"/>
          </a:xfrm>
          <a:prstGeom prst="rect">
            <a:avLst/>
          </a:prstGeom>
          <a:noFill/>
          <a:ln w="0">
            <a:noFill/>
            <a:prstDash val="solid"/>
          </a:ln>
        </p:spPr>
        <p:txBody>
          <a:bodyPr wrap="square" lIns="0" tIns="0" rIns="0" bIns="0" anchor="t">
            <a:noAutofit/>
          </a:bodyPr>
          <a:lstStyle/>
          <a:p>
            <a:pPr algn="l">
              <a:buNone/>
              <a:defRPr sz="1350" b="1" i="0">
                <a:solidFill>
                  <a:srgbClr val="5D6470"/>
                </a:solidFill>
                <a:latin typeface="Arial"/>
                <a:ea typeface="Arial"/>
                <a:cs typeface="Arial"/>
              </a:defRPr>
            </a:pPr>
            <a:r>
              <a:rPr sz="1350" b="1" i="0">
                <a:solidFill>
                  <a:srgbClr val="5D6470"/>
                </a:solidFill>
                <a:latin typeface="Arial"/>
                <a:ea typeface="Arial"/>
                <a:cs typeface="Arial"/>
              </a:rPr>
              <a:t>04</a:t>
            </a:r>
          </a:p>
        </p:txBody>
      </p:sp>
      <p:sp>
        <p:nvSpPr>
          <p:cNvPr id="26" name="arch-title-3">
            <a:extLst>
              <a:ext uri="{FF2B5EF4-FFF2-40B4-BE49-F238E27FC236}">
                <a16:creationId xmlns:a16="http://schemas.microsoft.com/office/drawing/2014/main" id="{6D61057B-FB51-4487-B901-6626D05DE50C}"/>
              </a:ext>
            </a:extLst>
          </p:cNvPr>
          <p:cNvSpPr>
            <a:spLocks noGrp="1"/>
          </p:cNvSpPr>
          <p:nvPr/>
        </p:nvSpPr>
        <p:spPr>
          <a:xfrm>
            <a:off x="6324600" y="2924175"/>
            <a:ext cx="1238250" cy="476250"/>
          </a:xfrm>
          <a:prstGeom prst="rect">
            <a:avLst/>
          </a:prstGeom>
          <a:noFill/>
          <a:ln w="0">
            <a:noFill/>
            <a:prstDash val="solid"/>
          </a:ln>
        </p:spPr>
        <p:txBody>
          <a:bodyPr wrap="square" lIns="0" tIns="0" rIns="0" bIns="0" anchor="t">
            <a:no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Embed</a:t>
            </a:r>
          </a:p>
        </p:txBody>
      </p:sp>
      <p:sp>
        <p:nvSpPr>
          <p:cNvPr id="27" name="arch-sub-3">
            <a:extLst>
              <a:ext uri="{FF2B5EF4-FFF2-40B4-BE49-F238E27FC236}">
                <a16:creationId xmlns:a16="http://schemas.microsoft.com/office/drawing/2014/main" id="{C0911F83-3E87-4159-A311-3C307669DF04}"/>
              </a:ext>
            </a:extLst>
          </p:cNvPr>
          <p:cNvSpPr>
            <a:spLocks noGrp="1"/>
          </p:cNvSpPr>
          <p:nvPr/>
        </p:nvSpPr>
        <p:spPr>
          <a:xfrm>
            <a:off x="6324600" y="3514725"/>
            <a:ext cx="1238250" cy="323850"/>
          </a:xfrm>
          <a:prstGeom prst="rect">
            <a:avLst/>
          </a:prstGeom>
          <a:noFill/>
          <a:ln w="0">
            <a:noFill/>
            <a:prstDash val="solid"/>
          </a:ln>
        </p:spPr>
        <p:txBody>
          <a:bodyPr wrap="square" lIns="0" tIns="0" rIns="0" bIns="0" anchor="t">
            <a:noAutofit/>
          </a:bodyPr>
          <a:lstStyle/>
          <a:p>
            <a:pPr algn="ctr">
              <a:buNone/>
              <a:defRPr sz="1275" b="0" i="0">
                <a:solidFill>
                  <a:srgbClr val="5D6470"/>
                </a:solidFill>
                <a:latin typeface="Arial"/>
                <a:ea typeface="Arial"/>
                <a:cs typeface="Arial"/>
              </a:defRPr>
            </a:pPr>
            <a:r>
              <a:rPr sz="1275" b="0" i="0">
                <a:solidFill>
                  <a:srgbClr val="5D6470"/>
                </a:solidFill>
                <a:latin typeface="Arial"/>
                <a:ea typeface="Arial"/>
                <a:cs typeface="Arial"/>
              </a:rPr>
              <a:t>MiniLM · 384d</a:t>
            </a:r>
          </a:p>
        </p:txBody>
      </p:sp>
      <p:sp>
        <p:nvSpPr>
          <p:cNvPr id="28" name="arch-num-4">
            <a:extLst>
              <a:ext uri="{FF2B5EF4-FFF2-40B4-BE49-F238E27FC236}">
                <a16:creationId xmlns:a16="http://schemas.microsoft.com/office/drawing/2014/main" id="{5BC6D089-963B-4359-B6F5-0F24F61BFECC}"/>
              </a:ext>
            </a:extLst>
          </p:cNvPr>
          <p:cNvSpPr>
            <a:spLocks noGrp="1"/>
          </p:cNvSpPr>
          <p:nvPr/>
        </p:nvSpPr>
        <p:spPr>
          <a:xfrm>
            <a:off x="8248650" y="2457450"/>
            <a:ext cx="571500" cy="266700"/>
          </a:xfrm>
          <a:prstGeom prst="rect">
            <a:avLst/>
          </a:prstGeom>
          <a:noFill/>
          <a:ln w="0">
            <a:noFill/>
            <a:prstDash val="solid"/>
          </a:ln>
        </p:spPr>
        <p:txBody>
          <a:bodyPr wrap="square" lIns="0" tIns="0" rIns="0" bIns="0" anchor="t">
            <a:noAutofit/>
          </a:bodyPr>
          <a:lstStyle/>
          <a:p>
            <a:pPr algn="l">
              <a:buNone/>
              <a:defRPr sz="1350" b="1" i="0">
                <a:solidFill>
                  <a:srgbClr val="5A36B5"/>
                </a:solidFill>
                <a:latin typeface="Arial"/>
                <a:ea typeface="Arial"/>
                <a:cs typeface="Arial"/>
              </a:defRPr>
            </a:pPr>
            <a:r>
              <a:rPr sz="1350" b="1" i="0">
                <a:solidFill>
                  <a:srgbClr val="5A36B5"/>
                </a:solidFill>
                <a:latin typeface="Arial"/>
                <a:ea typeface="Arial"/>
                <a:cs typeface="Arial"/>
              </a:rPr>
              <a:t>05</a:t>
            </a:r>
          </a:p>
        </p:txBody>
      </p:sp>
      <p:sp>
        <p:nvSpPr>
          <p:cNvPr id="29" name="arch-title-4">
            <a:extLst>
              <a:ext uri="{FF2B5EF4-FFF2-40B4-BE49-F238E27FC236}">
                <a16:creationId xmlns:a16="http://schemas.microsoft.com/office/drawing/2014/main" id="{A80CBDE7-B151-40B3-B20A-7371430114A3}"/>
              </a:ext>
            </a:extLst>
          </p:cNvPr>
          <p:cNvSpPr>
            <a:spLocks noGrp="1"/>
          </p:cNvSpPr>
          <p:nvPr/>
        </p:nvSpPr>
        <p:spPr>
          <a:xfrm>
            <a:off x="8248650" y="2924175"/>
            <a:ext cx="1238250" cy="476250"/>
          </a:xfrm>
          <a:prstGeom prst="rect">
            <a:avLst/>
          </a:prstGeom>
          <a:noFill/>
          <a:ln w="0">
            <a:noFill/>
            <a:prstDash val="solid"/>
          </a:ln>
        </p:spPr>
        <p:txBody>
          <a:bodyPr wrap="square" lIns="0" tIns="0" rIns="0" bIns="0" anchor="t">
            <a:no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Persist</a:t>
            </a:r>
          </a:p>
        </p:txBody>
      </p:sp>
      <p:sp>
        <p:nvSpPr>
          <p:cNvPr id="30" name="arch-sub-4">
            <a:extLst>
              <a:ext uri="{FF2B5EF4-FFF2-40B4-BE49-F238E27FC236}">
                <a16:creationId xmlns:a16="http://schemas.microsoft.com/office/drawing/2014/main" id="{FE5EC516-7540-4A74-B16B-BDC82E94CE6E}"/>
              </a:ext>
            </a:extLst>
          </p:cNvPr>
          <p:cNvSpPr>
            <a:spLocks noGrp="1"/>
          </p:cNvSpPr>
          <p:nvPr/>
        </p:nvSpPr>
        <p:spPr>
          <a:xfrm>
            <a:off x="8248650" y="3514725"/>
            <a:ext cx="1238250" cy="323850"/>
          </a:xfrm>
          <a:prstGeom prst="rect">
            <a:avLst/>
          </a:prstGeom>
          <a:noFill/>
          <a:ln w="0">
            <a:noFill/>
            <a:prstDash val="solid"/>
          </a:ln>
        </p:spPr>
        <p:txBody>
          <a:bodyPr wrap="square" lIns="0" tIns="0" rIns="0" bIns="0" anchor="t">
            <a:noAutofit/>
          </a:bodyPr>
          <a:lstStyle/>
          <a:p>
            <a:pPr algn="ctr">
              <a:buNone/>
              <a:defRPr sz="1275" b="0" i="0">
                <a:solidFill>
                  <a:srgbClr val="5D6470"/>
                </a:solidFill>
                <a:latin typeface="Arial"/>
                <a:ea typeface="Arial"/>
                <a:cs typeface="Arial"/>
              </a:defRPr>
            </a:pPr>
            <a:r>
              <a:rPr sz="1275" b="0" i="0">
                <a:solidFill>
                  <a:srgbClr val="5D6470"/>
                </a:solidFill>
                <a:latin typeface="Arial"/>
                <a:ea typeface="Arial"/>
                <a:cs typeface="Arial"/>
              </a:rPr>
              <a:t>project_data</a:t>
            </a:r>
          </a:p>
        </p:txBody>
      </p:sp>
      <p:sp>
        <p:nvSpPr>
          <p:cNvPr id="31" name="arch-num-5">
            <a:extLst>
              <a:ext uri="{FF2B5EF4-FFF2-40B4-BE49-F238E27FC236}">
                <a16:creationId xmlns:a16="http://schemas.microsoft.com/office/drawing/2014/main" id="{633EC16E-DC43-416E-B69F-4BADBA8DB236}"/>
              </a:ext>
            </a:extLst>
          </p:cNvPr>
          <p:cNvSpPr>
            <a:spLocks noGrp="1"/>
          </p:cNvSpPr>
          <p:nvPr/>
        </p:nvSpPr>
        <p:spPr>
          <a:xfrm>
            <a:off x="10172700" y="2457450"/>
            <a:ext cx="571500" cy="266700"/>
          </a:xfrm>
          <a:prstGeom prst="rect">
            <a:avLst/>
          </a:prstGeom>
          <a:noFill/>
          <a:ln w="0">
            <a:noFill/>
            <a:prstDash val="solid"/>
          </a:ln>
        </p:spPr>
        <p:txBody>
          <a:bodyPr wrap="square" lIns="0" tIns="0" rIns="0" bIns="0" anchor="t">
            <a:noAutofit/>
          </a:bodyPr>
          <a:lstStyle/>
          <a:p>
            <a:pPr algn="l">
              <a:buNone/>
              <a:defRPr sz="1350" b="1" i="0">
                <a:solidFill>
                  <a:srgbClr val="5D6470"/>
                </a:solidFill>
                <a:latin typeface="Arial"/>
                <a:ea typeface="Arial"/>
                <a:cs typeface="Arial"/>
              </a:defRPr>
            </a:pPr>
            <a:r>
              <a:rPr sz="1350" b="1" i="0">
                <a:solidFill>
                  <a:srgbClr val="5D6470"/>
                </a:solidFill>
                <a:latin typeface="Arial"/>
                <a:ea typeface="Arial"/>
                <a:cs typeface="Arial"/>
              </a:rPr>
              <a:t>06</a:t>
            </a:r>
          </a:p>
        </p:txBody>
      </p:sp>
      <p:sp>
        <p:nvSpPr>
          <p:cNvPr id="32" name="arch-title-5">
            <a:extLst>
              <a:ext uri="{FF2B5EF4-FFF2-40B4-BE49-F238E27FC236}">
                <a16:creationId xmlns:a16="http://schemas.microsoft.com/office/drawing/2014/main" id="{8C5FAADC-CAB7-47A8-9D61-D52581BA8D62}"/>
              </a:ext>
            </a:extLst>
          </p:cNvPr>
          <p:cNvSpPr>
            <a:spLocks noGrp="1"/>
          </p:cNvSpPr>
          <p:nvPr/>
        </p:nvSpPr>
        <p:spPr>
          <a:xfrm>
            <a:off x="10172700" y="2924175"/>
            <a:ext cx="1238250" cy="476250"/>
          </a:xfrm>
          <a:prstGeom prst="rect">
            <a:avLst/>
          </a:prstGeom>
          <a:noFill/>
          <a:ln w="0">
            <a:noFill/>
            <a:prstDash val="solid"/>
          </a:ln>
        </p:spPr>
        <p:txBody>
          <a:bodyPr wrap="square" lIns="0" tIns="0" rIns="0" bIns="0" anchor="t">
            <a:no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Index</a:t>
            </a:r>
          </a:p>
        </p:txBody>
      </p:sp>
      <p:sp>
        <p:nvSpPr>
          <p:cNvPr id="33" name="arch-sub-5">
            <a:extLst>
              <a:ext uri="{FF2B5EF4-FFF2-40B4-BE49-F238E27FC236}">
                <a16:creationId xmlns:a16="http://schemas.microsoft.com/office/drawing/2014/main" id="{5142102E-044A-4D31-A00E-4551CA82E781}"/>
              </a:ext>
            </a:extLst>
          </p:cNvPr>
          <p:cNvSpPr>
            <a:spLocks noGrp="1"/>
          </p:cNvSpPr>
          <p:nvPr/>
        </p:nvSpPr>
        <p:spPr>
          <a:xfrm>
            <a:off x="10172700" y="3514725"/>
            <a:ext cx="1238250" cy="323850"/>
          </a:xfrm>
          <a:prstGeom prst="rect">
            <a:avLst/>
          </a:prstGeom>
          <a:noFill/>
          <a:ln w="0">
            <a:noFill/>
            <a:prstDash val="solid"/>
          </a:ln>
        </p:spPr>
        <p:txBody>
          <a:bodyPr wrap="square" lIns="0" tIns="0" rIns="0" bIns="0" anchor="t">
            <a:noAutofit/>
          </a:bodyPr>
          <a:lstStyle/>
          <a:p>
            <a:pPr algn="ctr">
              <a:buNone/>
              <a:defRPr sz="1275" b="0" i="0">
                <a:solidFill>
                  <a:srgbClr val="5D6470"/>
                </a:solidFill>
                <a:latin typeface="Arial"/>
                <a:ea typeface="Arial"/>
                <a:cs typeface="Arial"/>
              </a:defRPr>
            </a:pPr>
            <a:r>
              <a:rPr sz="1275" b="0" i="0">
                <a:solidFill>
                  <a:srgbClr val="5D6470"/>
                </a:solidFill>
                <a:latin typeface="Arial"/>
                <a:ea typeface="Arial"/>
                <a:cs typeface="Arial"/>
              </a:rPr>
              <a:t>HNSW cosine</a:t>
            </a:r>
          </a:p>
        </p:txBody>
      </p:sp>
      <p:sp>
        <p:nvSpPr>
          <p:cNvPr id="34" name="arch-cache-panel">
            <a:extLst>
              <a:ext uri="{FF2B5EF4-FFF2-40B4-BE49-F238E27FC236}">
                <a16:creationId xmlns:a16="http://schemas.microsoft.com/office/drawing/2014/main" id="{2CBBB5A7-A3CD-4BFE-9D2D-6B84D00CD010}"/>
              </a:ext>
            </a:extLst>
          </p:cNvPr>
          <p:cNvSpPr>
            <a:spLocks noGrp="1"/>
          </p:cNvSpPr>
          <p:nvPr/>
        </p:nvSpPr>
        <p:spPr>
          <a:xfrm>
            <a:off x="2324100" y="4724400"/>
            <a:ext cx="7696200" cy="914400"/>
          </a:xfrm>
          <a:prstGeom prst="rect">
            <a:avLst/>
          </a:prstGeom>
          <a:solidFill>
            <a:srgbClr val="E7F8F1"/>
          </a:solidFill>
          <a:ln w="0">
            <a:solidFill>
              <a:srgbClr val="E7F8F1"/>
            </a:solidFill>
            <a:prstDash val="solid"/>
          </a:ln>
        </p:spPr>
      </p:sp>
      <p:sp>
        <p:nvSpPr>
          <p:cNvPr id="35" name="arch-cache-title">
            <a:extLst>
              <a:ext uri="{FF2B5EF4-FFF2-40B4-BE49-F238E27FC236}">
                <a16:creationId xmlns:a16="http://schemas.microsoft.com/office/drawing/2014/main" id="{2F7CB697-7D3F-477E-AF24-3852376310A4}"/>
              </a:ext>
            </a:extLst>
          </p:cNvPr>
          <p:cNvSpPr>
            <a:spLocks noGrp="1"/>
          </p:cNvSpPr>
          <p:nvPr/>
        </p:nvSpPr>
        <p:spPr>
          <a:xfrm>
            <a:off x="2609850" y="4943475"/>
            <a:ext cx="1333500" cy="266700"/>
          </a:xfrm>
          <a:prstGeom prst="rect">
            <a:avLst/>
          </a:prstGeom>
          <a:noFill/>
          <a:ln w="0">
            <a:noFill/>
            <a:prstDash val="solid"/>
          </a:ln>
        </p:spPr>
        <p:txBody>
          <a:bodyPr wrap="square" lIns="0" tIns="0" rIns="0" bIns="0" anchor="t">
            <a:noAutofit/>
          </a:bodyPr>
          <a:lstStyle/>
          <a:p>
            <a:pPr algn="l">
              <a:buNone/>
              <a:defRPr sz="1725" b="1" i="0">
                <a:solidFill>
                  <a:srgbClr val="45B98D"/>
                </a:solidFill>
                <a:latin typeface="Arial"/>
                <a:ea typeface="Arial"/>
                <a:cs typeface="Arial"/>
              </a:defRPr>
            </a:pPr>
            <a:r>
              <a:rPr sz="1725" b="1" i="0">
                <a:solidFill>
                  <a:srgbClr val="45B98D"/>
                </a:solidFill>
                <a:latin typeface="Arial"/>
                <a:ea typeface="Arial"/>
                <a:cs typeface="Arial"/>
              </a:rPr>
              <a:t>Safe replace</a:t>
            </a:r>
          </a:p>
        </p:txBody>
      </p:sp>
      <p:sp>
        <p:nvSpPr>
          <p:cNvPr id="36" name="arch-cache-copy">
            <a:extLst>
              <a:ext uri="{FF2B5EF4-FFF2-40B4-BE49-F238E27FC236}">
                <a16:creationId xmlns:a16="http://schemas.microsoft.com/office/drawing/2014/main" id="{B83E2A98-5992-4C90-857C-3372B8AF7196}"/>
              </a:ext>
            </a:extLst>
          </p:cNvPr>
          <p:cNvSpPr>
            <a:spLocks noGrp="1"/>
          </p:cNvSpPr>
          <p:nvPr/>
        </p:nvSpPr>
        <p:spPr>
          <a:xfrm>
            <a:off x="4019550" y="4943475"/>
            <a:ext cx="5619750" cy="342900"/>
          </a:xfrm>
          <a:prstGeom prst="rect">
            <a:avLst/>
          </a:prstGeom>
          <a:noFill/>
          <a:ln w="0">
            <a:noFill/>
            <a:prstDash val="solid"/>
          </a:ln>
        </p:spPr>
        <p:txBody>
          <a:bodyPr wrap="square" lIns="0" tIns="0" rIns="0" bIns="0" anchor="t">
            <a:noAutofit/>
          </a:bodyPr>
          <a:lstStyle/>
          <a:p>
            <a:pPr algn="l">
              <a:buNone/>
              <a:defRPr sz="1725" b="0" i="0">
                <a:solidFill>
                  <a:srgbClr val="111111"/>
                </a:solidFill>
                <a:latin typeface="Arial"/>
                <a:ea typeface="Arial"/>
                <a:cs typeface="Arial"/>
              </a:defRPr>
            </a:pPr>
            <a:r>
              <a:rPr sz="1725" b="0" i="0">
                <a:solidFill>
                  <a:srgbClr val="111111"/>
                </a:solidFill>
                <a:latin typeface="Arial"/>
                <a:ea typeface="Arial"/>
                <a:cs typeface="Arial"/>
              </a:rPr>
              <a:t>Existing vectors are replaced only after extraction and embedding succeed.</a:t>
            </a:r>
          </a:p>
        </p:txBody>
      </p:sp>
    </p:spTree>
    <p:extLst>
      <p:ext uri="{BB962C8B-B14F-4D97-AF65-F5344CB8AC3E}">
        <p14:creationId xmlns:p14="http://schemas.microsoft.com/office/powerpoint/2010/main" val="1599690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eyebrow-5">
            <a:extLst>
              <a:ext uri="{FF2B5EF4-FFF2-40B4-BE49-F238E27FC236}">
                <a16:creationId xmlns:a16="http://schemas.microsoft.com/office/drawing/2014/main" id="{4FB26397-208A-4DF3-A0FD-5F2AA65F0A54}"/>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5">
            <a:extLst>
              <a:ext uri="{FF2B5EF4-FFF2-40B4-BE49-F238E27FC236}">
                <a16:creationId xmlns:a16="http://schemas.microsoft.com/office/drawing/2014/main" id="{8315258B-F86C-452C-B5F2-4B4B17610DD8}"/>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Three components cover text, images, and retrieval</a:t>
            </a:r>
          </a:p>
        </p:txBody>
      </p:sp>
      <p:sp>
        <p:nvSpPr>
          <p:cNvPr id="3" name="title-rule-5">
            <a:extLst>
              <a:ext uri="{FF2B5EF4-FFF2-40B4-BE49-F238E27FC236}">
                <a16:creationId xmlns:a16="http://schemas.microsoft.com/office/drawing/2014/main" id="{BEBBBD68-34F1-4076-9419-0C0ADD7EFD85}"/>
              </a:ext>
            </a:extLst>
          </p:cNvPr>
          <p:cNvSpPr>
            <a:spLocks noGrp="1"/>
          </p:cNvSpPr>
          <p:nvPr/>
        </p:nvSpPr>
        <p:spPr>
          <a:xfrm>
            <a:off x="400050" y="1362075"/>
            <a:ext cx="11391900" cy="9525"/>
          </a:xfrm>
          <a:prstGeom prst="rect">
            <a:avLst/>
          </a:prstGeom>
          <a:solidFill>
            <a:srgbClr val="B8BCC4"/>
          </a:solidFill>
          <a:ln w="0">
            <a:solidFill>
              <a:srgbClr val="B8BCC4"/>
            </a:solidFill>
            <a:prstDash val="solid"/>
          </a:ln>
        </p:spPr>
      </p:sp>
      <p:sp>
        <p:nvSpPr>
          <p:cNvPr id="4" name="slide-number-5">
            <a:extLst>
              <a:ext uri="{FF2B5EF4-FFF2-40B4-BE49-F238E27FC236}">
                <a16:creationId xmlns:a16="http://schemas.microsoft.com/office/drawing/2014/main" id="{4931C541-A9F6-4790-9F04-95F53D245919}"/>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05</a:t>
            </a:r>
          </a:p>
        </p:txBody>
      </p:sp>
      <p:sp>
        <p:nvSpPr>
          <p:cNvPr id="5" name="model-name">
            <a:extLst>
              <a:ext uri="{FF2B5EF4-FFF2-40B4-BE49-F238E27FC236}">
                <a16:creationId xmlns:a16="http://schemas.microsoft.com/office/drawing/2014/main" id="{EBCBD6A7-B56D-4C7D-978D-C71F504EC514}"/>
              </a:ext>
            </a:extLst>
          </p:cNvPr>
          <p:cNvSpPr>
            <a:spLocks noGrp="1"/>
          </p:cNvSpPr>
          <p:nvPr/>
        </p:nvSpPr>
        <p:spPr>
          <a:xfrm>
            <a:off x="400050" y="1828800"/>
            <a:ext cx="4953000" cy="685800"/>
          </a:xfrm>
          <a:prstGeom prst="rect">
            <a:avLst/>
          </a:prstGeom>
          <a:noFill/>
          <a:ln w="0">
            <a:noFill/>
            <a:prstDash val="solid"/>
          </a:ln>
        </p:spPr>
        <p:txBody>
          <a:bodyPr wrap="square" lIns="0" tIns="0" rIns="0" bIns="0" anchor="t">
            <a:noAutofit/>
          </a:bodyPr>
          <a:lstStyle/>
          <a:p>
            <a:pPr algn="l">
              <a:buNone/>
              <a:defRPr sz="4350" b="1" i="0">
                <a:solidFill>
                  <a:srgbClr val="5A36B5"/>
                </a:solidFill>
                <a:latin typeface="Arial"/>
                <a:ea typeface="Arial"/>
                <a:cs typeface="Arial"/>
              </a:defRPr>
            </a:pPr>
            <a:r>
              <a:rPr sz="4350" b="1" i="0">
                <a:solidFill>
                  <a:srgbClr val="5A36B5"/>
                </a:solidFill>
                <a:latin typeface="Arial"/>
                <a:ea typeface="Arial"/>
                <a:cs typeface="Arial"/>
              </a:rPr>
              <a:t>Hybrid RAG</a:t>
            </a:r>
          </a:p>
        </p:txBody>
      </p:sp>
      <p:sp>
        <p:nvSpPr>
          <p:cNvPr id="6" name="model-id">
            <a:extLst>
              <a:ext uri="{FF2B5EF4-FFF2-40B4-BE49-F238E27FC236}">
                <a16:creationId xmlns:a16="http://schemas.microsoft.com/office/drawing/2014/main" id="{2281B478-2EAF-4EA2-8505-35BB7CD336EF}"/>
              </a:ext>
            </a:extLst>
          </p:cNvPr>
          <p:cNvSpPr>
            <a:spLocks noGrp="1"/>
          </p:cNvSpPr>
          <p:nvPr/>
        </p:nvSpPr>
        <p:spPr>
          <a:xfrm>
            <a:off x="400050" y="2667000"/>
            <a:ext cx="5810250" cy="400050"/>
          </a:xfrm>
          <a:prstGeom prst="rect">
            <a:avLst/>
          </a:prstGeom>
          <a:noFill/>
          <a:ln w="0">
            <a:noFill/>
            <a:prstDash val="solid"/>
          </a:ln>
        </p:spPr>
        <p:txBody>
          <a:bodyPr wrap="square" lIns="0" tIns="0" rIns="0" bIns="0" anchor="t">
            <a:noAutofit/>
          </a:bodyPr>
          <a:lstStyle/>
          <a:p>
            <a:pPr algn="l">
              <a:buNone/>
              <a:defRPr sz="1650" b="0" i="0">
                <a:solidFill>
                  <a:srgbClr val="111111"/>
                </a:solidFill>
                <a:latin typeface="Courier New"/>
                <a:ea typeface="Courier New"/>
                <a:cs typeface="Courier New"/>
              </a:defRPr>
            </a:pPr>
            <a:r>
              <a:rPr sz="1650" b="0" i="0">
                <a:solidFill>
                  <a:srgbClr val="111111"/>
                </a:solidFill>
                <a:latin typeface="Courier New"/>
                <a:ea typeface="Courier New"/>
                <a:cs typeface="Courier New"/>
              </a:rPr>
              <a:t>MiniLM 384d  +  GPT-4o-mini vision  +  pgvector</a:t>
            </a:r>
          </a:p>
        </p:txBody>
      </p:sp>
      <p:sp>
        <p:nvSpPr>
          <p:cNvPr id="7" name="model-why">
            <a:extLst>
              <a:ext uri="{FF2B5EF4-FFF2-40B4-BE49-F238E27FC236}">
                <a16:creationId xmlns:a16="http://schemas.microsoft.com/office/drawing/2014/main" id="{E0DA1818-A4EF-4F08-9163-0218E92F7762}"/>
              </a:ext>
            </a:extLst>
          </p:cNvPr>
          <p:cNvSpPr>
            <a:spLocks noGrp="1"/>
          </p:cNvSpPr>
          <p:nvPr/>
        </p:nvSpPr>
        <p:spPr>
          <a:xfrm>
            <a:off x="400050" y="3352800"/>
            <a:ext cx="5619750" cy="1028700"/>
          </a:xfrm>
          <a:prstGeom prst="rect">
            <a:avLst/>
          </a:prstGeom>
          <a:noFill/>
          <a:ln w="0">
            <a:noFill/>
            <a:prstDash val="solid"/>
          </a:ln>
        </p:spPr>
        <p:txBody>
          <a:bodyPr wrap="square" lIns="0" tIns="0" rIns="0" bIns="0" anchor="t">
            <a:noAutofit/>
          </a:bodyPr>
          <a:lstStyle/>
          <a:p>
            <a:pPr algn="l">
              <a:buNone/>
              <a:defRPr sz="2100" b="0" i="0">
                <a:solidFill>
                  <a:srgbClr val="111111"/>
                </a:solidFill>
                <a:latin typeface="Arial"/>
                <a:ea typeface="Arial"/>
                <a:cs typeface="Arial"/>
              </a:defRPr>
            </a:pPr>
            <a:r>
              <a:rPr sz="2100" b="0" i="0">
                <a:solidFill>
                  <a:srgbClr val="111111"/>
                </a:solidFill>
                <a:latin typeface="Arial"/>
                <a:ea typeface="Arial"/>
                <a:cs typeface="Arial"/>
              </a:rPr>
              <a:t>Local embeddings remove hosted embedding permissions while vision preserves the technical meaning of architecture diagrams.</a:t>
            </a:r>
          </a:p>
        </p:txBody>
      </p:sp>
      <p:sp>
        <p:nvSpPr>
          <p:cNvPr id="8" name="model-divider">
            <a:extLst>
              <a:ext uri="{FF2B5EF4-FFF2-40B4-BE49-F238E27FC236}">
                <a16:creationId xmlns:a16="http://schemas.microsoft.com/office/drawing/2014/main" id="{5C279B7D-9D75-4AA0-B839-601ED2F391BE}"/>
              </a:ext>
            </a:extLst>
          </p:cNvPr>
          <p:cNvSpPr>
            <a:spLocks noGrp="1"/>
          </p:cNvSpPr>
          <p:nvPr/>
        </p:nvSpPr>
        <p:spPr>
          <a:xfrm>
            <a:off x="6381750" y="1809750"/>
            <a:ext cx="9525" cy="3714750"/>
          </a:xfrm>
          <a:prstGeom prst="rect">
            <a:avLst/>
          </a:prstGeom>
          <a:solidFill>
            <a:srgbClr val="B8BCC4"/>
          </a:solidFill>
          <a:ln w="0">
            <a:solidFill>
              <a:srgbClr val="B8BCC4"/>
            </a:solidFill>
            <a:prstDash val="solid"/>
          </a:ln>
        </p:spPr>
      </p:sp>
      <p:sp>
        <p:nvSpPr>
          <p:cNvPr id="9" name="model-reason-label-0">
            <a:extLst>
              <a:ext uri="{FF2B5EF4-FFF2-40B4-BE49-F238E27FC236}">
                <a16:creationId xmlns:a16="http://schemas.microsoft.com/office/drawing/2014/main" id="{B66FA7BE-5FD5-4032-BFB8-38AB2D6BB5CA}"/>
              </a:ext>
            </a:extLst>
          </p:cNvPr>
          <p:cNvSpPr>
            <a:spLocks noGrp="1"/>
          </p:cNvSpPr>
          <p:nvPr/>
        </p:nvSpPr>
        <p:spPr>
          <a:xfrm>
            <a:off x="6819900" y="1866900"/>
            <a:ext cx="200025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LOCAL TEXT</a:t>
            </a:r>
          </a:p>
        </p:txBody>
      </p:sp>
      <p:sp>
        <p:nvSpPr>
          <p:cNvPr id="10" name="model-reason-copy-0">
            <a:extLst>
              <a:ext uri="{FF2B5EF4-FFF2-40B4-BE49-F238E27FC236}">
                <a16:creationId xmlns:a16="http://schemas.microsoft.com/office/drawing/2014/main" id="{781B03BA-FDC7-4B30-8166-5F89502AED57}"/>
              </a:ext>
            </a:extLst>
          </p:cNvPr>
          <p:cNvSpPr>
            <a:spLocks noGrp="1"/>
          </p:cNvSpPr>
          <p:nvPr/>
        </p:nvSpPr>
        <p:spPr>
          <a:xfrm>
            <a:off x="8858250" y="1866900"/>
            <a:ext cx="2667000" cy="53340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Multilingual MiniLM embeds document chunks and queries.</a:t>
            </a:r>
          </a:p>
        </p:txBody>
      </p:sp>
      <p:sp>
        <p:nvSpPr>
          <p:cNvPr id="11" name="model-reason-label-1">
            <a:extLst>
              <a:ext uri="{FF2B5EF4-FFF2-40B4-BE49-F238E27FC236}">
                <a16:creationId xmlns:a16="http://schemas.microsoft.com/office/drawing/2014/main" id="{02354D55-B0C8-4955-A6AC-65906E6A13CE}"/>
              </a:ext>
            </a:extLst>
          </p:cNvPr>
          <p:cNvSpPr>
            <a:spLocks noGrp="1"/>
          </p:cNvSpPr>
          <p:nvPr/>
        </p:nvSpPr>
        <p:spPr>
          <a:xfrm>
            <a:off x="6819900" y="2762250"/>
            <a:ext cx="200025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VISION INPUT</a:t>
            </a:r>
          </a:p>
        </p:txBody>
      </p:sp>
      <p:sp>
        <p:nvSpPr>
          <p:cNvPr id="12" name="model-reason-copy-1">
            <a:extLst>
              <a:ext uri="{FF2B5EF4-FFF2-40B4-BE49-F238E27FC236}">
                <a16:creationId xmlns:a16="http://schemas.microsoft.com/office/drawing/2014/main" id="{197F6D7E-C18C-4314-9020-8DE7F84AD1B8}"/>
              </a:ext>
            </a:extLst>
          </p:cNvPr>
          <p:cNvSpPr>
            <a:spLocks noGrp="1"/>
          </p:cNvSpPr>
          <p:nvPr/>
        </p:nvSpPr>
        <p:spPr>
          <a:xfrm>
            <a:off x="8858250" y="2762250"/>
            <a:ext cx="2667000" cy="53340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GPT-4o-mini describes nodes, arrows, events, and relationships in English.</a:t>
            </a:r>
          </a:p>
        </p:txBody>
      </p:sp>
      <p:sp>
        <p:nvSpPr>
          <p:cNvPr id="13" name="model-reason-label-2">
            <a:extLst>
              <a:ext uri="{FF2B5EF4-FFF2-40B4-BE49-F238E27FC236}">
                <a16:creationId xmlns:a16="http://schemas.microsoft.com/office/drawing/2014/main" id="{3561F068-EA65-4C4F-BE0C-EF70DE2813AB}"/>
              </a:ext>
            </a:extLst>
          </p:cNvPr>
          <p:cNvSpPr>
            <a:spLocks noGrp="1"/>
          </p:cNvSpPr>
          <p:nvPr/>
        </p:nvSpPr>
        <p:spPr>
          <a:xfrm>
            <a:off x="6819900" y="3657600"/>
            <a:ext cx="200025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VECTOR SEARCH</a:t>
            </a:r>
          </a:p>
        </p:txBody>
      </p:sp>
      <p:sp>
        <p:nvSpPr>
          <p:cNvPr id="14" name="model-reason-copy-2">
            <a:extLst>
              <a:ext uri="{FF2B5EF4-FFF2-40B4-BE49-F238E27FC236}">
                <a16:creationId xmlns:a16="http://schemas.microsoft.com/office/drawing/2014/main" id="{350240C1-ABF8-4076-ADE5-820A82C05939}"/>
              </a:ext>
            </a:extLst>
          </p:cNvPr>
          <p:cNvSpPr>
            <a:spLocks noGrp="1"/>
          </p:cNvSpPr>
          <p:nvPr/>
        </p:nvSpPr>
        <p:spPr>
          <a:xfrm>
            <a:off x="8858250" y="3657600"/>
            <a:ext cx="2667000" cy="53340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pgvector HNSW retrieves nearest chunks with cosine distance.</a:t>
            </a:r>
          </a:p>
        </p:txBody>
      </p:sp>
      <p:sp>
        <p:nvSpPr>
          <p:cNvPr id="15" name="model-reason-label-3">
            <a:extLst>
              <a:ext uri="{FF2B5EF4-FFF2-40B4-BE49-F238E27FC236}">
                <a16:creationId xmlns:a16="http://schemas.microsoft.com/office/drawing/2014/main" id="{B023E8AB-41F4-43CD-97D2-32F8BD2C77EB}"/>
              </a:ext>
            </a:extLst>
          </p:cNvPr>
          <p:cNvSpPr>
            <a:spLocks noGrp="1"/>
          </p:cNvSpPr>
          <p:nvPr/>
        </p:nvSpPr>
        <p:spPr>
          <a:xfrm>
            <a:off x="6819900" y="4552950"/>
            <a:ext cx="2000250" cy="247650"/>
          </a:xfrm>
          <a:prstGeom prst="rect">
            <a:avLst/>
          </a:prstGeom>
          <a:noFill/>
          <a:ln w="0">
            <a:noFill/>
            <a:prstDash val="solid"/>
          </a:ln>
        </p:spPr>
        <p:txBody>
          <a:bodyPr wrap="square" lIns="0" tIns="0" rIns="0" bIns="0" anchor="t">
            <a:noAutofit/>
          </a:bodyPr>
          <a:lstStyle/>
          <a:p>
            <a:pPr algn="l">
              <a:buNone/>
              <a:defRPr sz="1350" b="1" i="0">
                <a:solidFill>
                  <a:srgbClr val="D27A10"/>
                </a:solidFill>
                <a:latin typeface="Arial"/>
                <a:ea typeface="Arial"/>
                <a:cs typeface="Arial"/>
              </a:defRPr>
            </a:pPr>
            <a:r>
              <a:rPr sz="1350" b="1" i="0">
                <a:solidFill>
                  <a:srgbClr val="D27A10"/>
                </a:solidFill>
                <a:latin typeface="Arial"/>
                <a:ea typeface="Arial"/>
                <a:cs typeface="Arial"/>
              </a:rPr>
              <a:t>CHAT MODEL</a:t>
            </a:r>
          </a:p>
        </p:txBody>
      </p:sp>
      <p:sp>
        <p:nvSpPr>
          <p:cNvPr id="16" name="model-reason-copy-3">
            <a:extLst>
              <a:ext uri="{FF2B5EF4-FFF2-40B4-BE49-F238E27FC236}">
                <a16:creationId xmlns:a16="http://schemas.microsoft.com/office/drawing/2014/main" id="{A4853896-1F48-4C44-BDF1-EC359927077E}"/>
              </a:ext>
            </a:extLst>
          </p:cNvPr>
          <p:cNvSpPr>
            <a:spLocks noGrp="1"/>
          </p:cNvSpPr>
          <p:nvPr/>
        </p:nvSpPr>
        <p:spPr>
          <a:xfrm>
            <a:off x="8858250" y="4552950"/>
            <a:ext cx="2667000" cy="53340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GPT-4o-mini converts retrieved evidence into one interview question.</a:t>
            </a:r>
          </a:p>
        </p:txBody>
      </p:sp>
      <p:sp>
        <p:nvSpPr>
          <p:cNvPr id="17" name="model-language-note">
            <a:extLst>
              <a:ext uri="{FF2B5EF4-FFF2-40B4-BE49-F238E27FC236}">
                <a16:creationId xmlns:a16="http://schemas.microsoft.com/office/drawing/2014/main" id="{15E06CF2-8AD4-4BA9-AD17-E4EAA0BB19A4}"/>
              </a:ext>
            </a:extLst>
          </p:cNvPr>
          <p:cNvSpPr>
            <a:spLocks noGrp="1"/>
          </p:cNvSpPr>
          <p:nvPr/>
        </p:nvSpPr>
        <p:spPr>
          <a:xfrm>
            <a:off x="400050" y="5772150"/>
            <a:ext cx="10477500" cy="323850"/>
          </a:xfrm>
          <a:prstGeom prst="rect">
            <a:avLst/>
          </a:prstGeom>
          <a:noFill/>
          <a:ln w="0">
            <a:noFill/>
            <a:prstDash val="solid"/>
          </a:ln>
        </p:spPr>
        <p:txBody>
          <a:bodyPr wrap="square" lIns="0" tIns="0" rIns="0" bIns="0" anchor="t">
            <a:noAutofit/>
          </a:bodyPr>
          <a:lstStyle/>
          <a:p>
            <a:pPr algn="l">
              <a:buNone/>
              <a:defRPr sz="1575" b="0" i="1">
                <a:solidFill>
                  <a:srgbClr val="5D6470"/>
                </a:solidFill>
                <a:latin typeface="Arial"/>
                <a:ea typeface="Arial"/>
                <a:cs typeface="Arial"/>
              </a:defRPr>
            </a:pPr>
            <a:r>
              <a:rPr sz="1575" b="0" i="1">
                <a:solidFill>
                  <a:srgbClr val="5D6470"/>
                </a:solidFill>
                <a:latin typeface="Arial"/>
                <a:ea typeface="Arial"/>
                <a:cs typeface="Arial"/>
              </a:rPr>
              <a:t>Image descriptions are English for consistent indexing; text and query embeddings remain multilingual.</a:t>
            </a:r>
          </a:p>
        </p:txBody>
      </p:sp>
    </p:spTree>
    <p:extLst>
      <p:ext uri="{BB962C8B-B14F-4D97-AF65-F5344CB8AC3E}">
        <p14:creationId xmlns:p14="http://schemas.microsoft.com/office/powerpoint/2010/main" val="517914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eyebrow-6">
            <a:extLst>
              <a:ext uri="{FF2B5EF4-FFF2-40B4-BE49-F238E27FC236}">
                <a16:creationId xmlns:a16="http://schemas.microsoft.com/office/drawing/2014/main" id="{37C6A317-916F-44B6-AB8B-46C0D9FB5D3D}"/>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6">
            <a:extLst>
              <a:ext uri="{FF2B5EF4-FFF2-40B4-BE49-F238E27FC236}">
                <a16:creationId xmlns:a16="http://schemas.microsoft.com/office/drawing/2014/main" id="{4FDAE39C-04C2-473C-8CA8-D5455FC98D1B}"/>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The interview starts fast while project grounding runs behind it</a:t>
            </a:r>
          </a:p>
        </p:txBody>
      </p:sp>
      <p:sp>
        <p:nvSpPr>
          <p:cNvPr id="3" name="title-rule-6">
            <a:extLst>
              <a:ext uri="{FF2B5EF4-FFF2-40B4-BE49-F238E27FC236}">
                <a16:creationId xmlns:a16="http://schemas.microsoft.com/office/drawing/2014/main" id="{586B7301-4376-4296-B9F4-E2530CA86BAF}"/>
              </a:ext>
            </a:extLst>
          </p:cNvPr>
          <p:cNvSpPr>
            <a:spLocks noGrp="1"/>
          </p:cNvSpPr>
          <p:nvPr/>
        </p:nvSpPr>
        <p:spPr>
          <a:xfrm>
            <a:off x="400050" y="1490864"/>
            <a:ext cx="11391900" cy="9525"/>
          </a:xfrm>
          <a:prstGeom prst="rect">
            <a:avLst/>
          </a:prstGeom>
          <a:solidFill>
            <a:srgbClr val="B8BCC4"/>
          </a:solidFill>
          <a:ln w="0">
            <a:solidFill>
              <a:srgbClr val="B8BCC4"/>
            </a:solidFill>
            <a:prstDash val="solid"/>
          </a:ln>
        </p:spPr>
      </p:sp>
      <p:sp>
        <p:nvSpPr>
          <p:cNvPr id="4" name="slide-number-6">
            <a:extLst>
              <a:ext uri="{FF2B5EF4-FFF2-40B4-BE49-F238E27FC236}">
                <a16:creationId xmlns:a16="http://schemas.microsoft.com/office/drawing/2014/main" id="{69D6B71C-5216-4B27-B748-2AE8EAC51E1B}"/>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06</a:t>
            </a:r>
          </a:p>
        </p:txBody>
      </p:sp>
      <p:sp>
        <p:nvSpPr>
          <p:cNvPr id="5" name="first-label">
            <a:extLst>
              <a:ext uri="{FF2B5EF4-FFF2-40B4-BE49-F238E27FC236}">
                <a16:creationId xmlns:a16="http://schemas.microsoft.com/office/drawing/2014/main" id="{91501C37-95DC-4862-9567-9A3C880AFFC9}"/>
              </a:ext>
            </a:extLst>
          </p:cNvPr>
          <p:cNvSpPr>
            <a:spLocks noGrp="1"/>
          </p:cNvSpPr>
          <p:nvPr/>
        </p:nvSpPr>
        <p:spPr>
          <a:xfrm>
            <a:off x="400050" y="1762125"/>
            <a:ext cx="1905000" cy="285750"/>
          </a:xfrm>
          <a:prstGeom prst="rect">
            <a:avLst/>
          </a:prstGeom>
          <a:noFill/>
          <a:ln w="0">
            <a:noFill/>
            <a:prstDash val="solid"/>
          </a:ln>
        </p:spPr>
        <p:txBody>
          <a:bodyPr wrap="square" lIns="0" tIns="0" rIns="0" bIns="0" anchor="t">
            <a:noAutofit/>
          </a:bodyPr>
          <a:lstStyle/>
          <a:p>
            <a:pPr algn="l">
              <a:buNone/>
              <a:defRPr sz="1425" b="1" i="0">
                <a:solidFill>
                  <a:srgbClr val="5A36B5"/>
                </a:solidFill>
                <a:latin typeface="Arial"/>
                <a:ea typeface="Arial"/>
                <a:cs typeface="Arial"/>
              </a:defRPr>
            </a:pPr>
            <a:r>
              <a:rPr sz="1425" b="1" i="0">
                <a:solidFill>
                  <a:srgbClr val="5A36B5"/>
                </a:solidFill>
                <a:latin typeface="Arial"/>
                <a:ea typeface="Arial"/>
                <a:cs typeface="Arial"/>
              </a:rPr>
              <a:t>INITIAL RESPONSE</a:t>
            </a:r>
          </a:p>
        </p:txBody>
      </p:sp>
      <p:sp>
        <p:nvSpPr>
          <p:cNvPr id="6" name="cache-top-0">
            <a:extLst>
              <a:ext uri="{FF2B5EF4-FFF2-40B4-BE49-F238E27FC236}">
                <a16:creationId xmlns:a16="http://schemas.microsoft.com/office/drawing/2014/main" id="{5CA2D7DE-1C0D-4743-8E0A-D4CF36AB5F8A}"/>
              </a:ext>
            </a:extLst>
          </p:cNvPr>
          <p:cNvSpPr>
            <a:spLocks noGrp="1"/>
          </p:cNvSpPr>
          <p:nvPr/>
        </p:nvSpPr>
        <p:spPr>
          <a:xfrm>
            <a:off x="781050" y="2343150"/>
            <a:ext cx="2000250" cy="1066800"/>
          </a:xfrm>
          <a:prstGeom prst="rect">
            <a:avLst/>
          </a:prstGeom>
          <a:solidFill>
            <a:srgbClr val="F6F6F7"/>
          </a:solidFill>
          <a:ln w="9525">
            <a:solidFill>
              <a:srgbClr val="B8BCC4"/>
            </a:solidFill>
            <a:prstDash val="solid"/>
          </a:ln>
        </p:spPr>
      </p:sp>
      <p:sp>
        <p:nvSpPr>
          <p:cNvPr id="7" name="cache-top-1">
            <a:extLst>
              <a:ext uri="{FF2B5EF4-FFF2-40B4-BE49-F238E27FC236}">
                <a16:creationId xmlns:a16="http://schemas.microsoft.com/office/drawing/2014/main" id="{57150B8B-A97E-4315-B511-C1C8710C9D70}"/>
              </a:ext>
            </a:extLst>
          </p:cNvPr>
          <p:cNvSpPr>
            <a:spLocks noGrp="1"/>
          </p:cNvSpPr>
          <p:nvPr/>
        </p:nvSpPr>
        <p:spPr>
          <a:xfrm>
            <a:off x="3543300" y="2343150"/>
            <a:ext cx="2000250" cy="1066800"/>
          </a:xfrm>
          <a:prstGeom prst="rect">
            <a:avLst/>
          </a:prstGeom>
          <a:solidFill>
            <a:srgbClr val="EEE8FF"/>
          </a:solidFill>
          <a:ln w="9525">
            <a:solidFill>
              <a:srgbClr val="5A36B5"/>
            </a:solidFill>
            <a:prstDash val="solid"/>
          </a:ln>
        </p:spPr>
      </p:sp>
      <p:sp>
        <p:nvSpPr>
          <p:cNvPr id="8" name="cache-top-2">
            <a:extLst>
              <a:ext uri="{FF2B5EF4-FFF2-40B4-BE49-F238E27FC236}">
                <a16:creationId xmlns:a16="http://schemas.microsoft.com/office/drawing/2014/main" id="{61360C3E-B642-41E3-AA96-436E651C358D}"/>
              </a:ext>
            </a:extLst>
          </p:cNvPr>
          <p:cNvSpPr>
            <a:spLocks noGrp="1"/>
          </p:cNvSpPr>
          <p:nvPr/>
        </p:nvSpPr>
        <p:spPr>
          <a:xfrm>
            <a:off x="6305550" y="2343150"/>
            <a:ext cx="2000250" cy="1066800"/>
          </a:xfrm>
          <a:prstGeom prst="rect">
            <a:avLst/>
          </a:prstGeom>
          <a:solidFill>
            <a:srgbClr val="F6F6F7"/>
          </a:solidFill>
          <a:ln w="9525">
            <a:solidFill>
              <a:srgbClr val="B8BCC4"/>
            </a:solidFill>
            <a:prstDash val="solid"/>
          </a:ln>
        </p:spPr>
      </p:sp>
      <p:sp>
        <p:nvSpPr>
          <p:cNvPr id="9" name="cache-top-3">
            <a:extLst>
              <a:ext uri="{FF2B5EF4-FFF2-40B4-BE49-F238E27FC236}">
                <a16:creationId xmlns:a16="http://schemas.microsoft.com/office/drawing/2014/main" id="{44842DDC-2E13-4747-B2CA-5905CDA9D23B}"/>
              </a:ext>
            </a:extLst>
          </p:cNvPr>
          <p:cNvSpPr>
            <a:spLocks noGrp="1"/>
          </p:cNvSpPr>
          <p:nvPr/>
        </p:nvSpPr>
        <p:spPr>
          <a:xfrm>
            <a:off x="9067800" y="2343150"/>
            <a:ext cx="2000250" cy="1066800"/>
          </a:xfrm>
          <a:prstGeom prst="rect">
            <a:avLst/>
          </a:prstGeom>
          <a:solidFill>
            <a:srgbClr val="F6F6F7"/>
          </a:solidFill>
          <a:ln w="9525">
            <a:solidFill>
              <a:srgbClr val="B8BCC4"/>
            </a:solidFill>
            <a:prstDash val="solid"/>
          </a:ln>
        </p:spPr>
      </p:sp>
      <p:cxnSp>
        <p:nvCxnSpPr>
          <p:cNvPr id="86" name="Straight Arrow Connector 85"/>
          <p:cNvCxnSpPr>
            <a:stCxn id="6" idx="3"/>
            <a:endCxn id="7" idx="1"/>
          </p:cNvCxnSpPr>
          <p:nvPr/>
        </p:nvCxnSpPr>
        <p:spPr>
          <a:xfrm>
            <a:off x="2781300" y="2876550"/>
            <a:ext cx="762000" cy="0"/>
          </a:xfrm>
          <a:prstGeom prst="straightConnector1">
            <a:avLst/>
          </a:prstGeom>
          <a:ln w="19050">
            <a:solidFill>
              <a:srgbClr val="B8BCC4"/>
            </a:solidFill>
            <a:prstDash val="solid"/>
            <a:tailEnd type="arrow" w="med" len="med"/>
          </a:ln>
        </p:spPr>
      </p:cxnSp>
      <p:cxnSp>
        <p:nvCxnSpPr>
          <p:cNvPr id="87" name="Straight Arrow Connector 86"/>
          <p:cNvCxnSpPr>
            <a:stCxn id="7" idx="3"/>
            <a:endCxn id="8" idx="1"/>
          </p:cNvCxnSpPr>
          <p:nvPr/>
        </p:nvCxnSpPr>
        <p:spPr>
          <a:xfrm>
            <a:off x="5543550" y="2876550"/>
            <a:ext cx="762000" cy="0"/>
          </a:xfrm>
          <a:prstGeom prst="straightConnector1">
            <a:avLst/>
          </a:prstGeom>
          <a:ln w="19050">
            <a:solidFill>
              <a:srgbClr val="B8BCC4"/>
            </a:solidFill>
            <a:prstDash val="solid"/>
            <a:tailEnd type="arrow" w="med" len="med"/>
          </a:ln>
        </p:spPr>
      </p:cxnSp>
      <p:cxnSp>
        <p:nvCxnSpPr>
          <p:cNvPr id="88" name="Straight Arrow Connector 87"/>
          <p:cNvCxnSpPr>
            <a:stCxn id="8" idx="3"/>
            <a:endCxn id="9" idx="1"/>
          </p:cNvCxnSpPr>
          <p:nvPr/>
        </p:nvCxnSpPr>
        <p:spPr>
          <a:xfrm>
            <a:off x="8305800" y="2876550"/>
            <a:ext cx="762000" cy="0"/>
          </a:xfrm>
          <a:prstGeom prst="straightConnector1">
            <a:avLst/>
          </a:prstGeom>
          <a:ln w="19050">
            <a:solidFill>
              <a:srgbClr val="B8BCC4"/>
            </a:solidFill>
            <a:prstDash val="solid"/>
            <a:tailEnd type="arrow" w="med" len="med"/>
          </a:ln>
        </p:spPr>
      </p:cxnSp>
      <p:sp>
        <p:nvSpPr>
          <p:cNvPr id="13" name="cache-top-title-0">
            <a:extLst>
              <a:ext uri="{FF2B5EF4-FFF2-40B4-BE49-F238E27FC236}">
                <a16:creationId xmlns:a16="http://schemas.microsoft.com/office/drawing/2014/main" id="{D3178651-8886-4BD0-8336-474BC8349642}"/>
              </a:ext>
            </a:extLst>
          </p:cNvPr>
          <p:cNvSpPr>
            <a:spLocks noGrp="1"/>
          </p:cNvSpPr>
          <p:nvPr/>
        </p:nvSpPr>
        <p:spPr>
          <a:xfrm>
            <a:off x="952500" y="2533650"/>
            <a:ext cx="1657350" cy="266700"/>
          </a:xfrm>
          <a:prstGeom prst="rect">
            <a:avLst/>
          </a:prstGeom>
          <a:noFill/>
          <a:ln w="0">
            <a:noFill/>
            <a:prstDash val="solid"/>
          </a:ln>
        </p:spPr>
        <p:txBody>
          <a:bodyPr wrap="square" lIns="0" tIns="0" rIns="0" bIns="0" anchor="t">
            <a:noAutofit/>
          </a:bodyPr>
          <a:lstStyle/>
          <a:p>
            <a:pPr algn="ctr">
              <a:buNone/>
              <a:defRPr sz="1725" b="1" i="0">
                <a:solidFill>
                  <a:srgbClr val="111111"/>
                </a:solidFill>
                <a:latin typeface="Arial"/>
                <a:ea typeface="Arial"/>
                <a:cs typeface="Arial"/>
              </a:defRPr>
            </a:pPr>
            <a:r>
              <a:rPr sz="1725" b="1" i="0">
                <a:solidFill>
                  <a:srgbClr val="111111"/>
                </a:solidFill>
                <a:latin typeface="Arial"/>
                <a:ea typeface="Arial"/>
                <a:cs typeface="Arial"/>
              </a:rPr>
              <a:t>Plan</a:t>
            </a:r>
          </a:p>
        </p:txBody>
      </p:sp>
      <p:sp>
        <p:nvSpPr>
          <p:cNvPr id="14" name="cache-top-sub-0">
            <a:extLst>
              <a:ext uri="{FF2B5EF4-FFF2-40B4-BE49-F238E27FC236}">
                <a16:creationId xmlns:a16="http://schemas.microsoft.com/office/drawing/2014/main" id="{E6EE2FE7-EEE4-499E-B735-4F5F0EC44942}"/>
              </a:ext>
            </a:extLst>
          </p:cNvPr>
          <p:cNvSpPr>
            <a:spLocks noGrp="1"/>
          </p:cNvSpPr>
          <p:nvPr/>
        </p:nvSpPr>
        <p:spPr>
          <a:xfrm>
            <a:off x="952500" y="2943225"/>
            <a:ext cx="1657350" cy="285750"/>
          </a:xfrm>
          <a:prstGeom prst="rect">
            <a:avLst/>
          </a:prstGeom>
          <a:noFill/>
          <a:ln w="0">
            <a:noFill/>
            <a:prstDash val="solid"/>
          </a:ln>
        </p:spPr>
        <p:txBody>
          <a:bodyPr wrap="square" lIns="0" tIns="0" rIns="0" bIns="0" anchor="t">
            <a:noAutofit/>
          </a:bodyPr>
          <a:lstStyle/>
          <a:p>
            <a:pPr algn="ctr">
              <a:buNone/>
              <a:defRPr sz="1350" b="0" i="0">
                <a:solidFill>
                  <a:srgbClr val="5D6470"/>
                </a:solidFill>
                <a:latin typeface="Arial"/>
                <a:ea typeface="Arial"/>
                <a:cs typeface="Arial"/>
              </a:defRPr>
            </a:pPr>
            <a:r>
              <a:rPr sz="1350" b="0" i="0">
                <a:solidFill>
                  <a:srgbClr val="5D6470"/>
                </a:solidFill>
                <a:latin typeface="Arial"/>
                <a:ea typeface="Arial"/>
                <a:cs typeface="Arial"/>
              </a:rPr>
              <a:t>N general questions</a:t>
            </a:r>
          </a:p>
        </p:txBody>
      </p:sp>
      <p:sp>
        <p:nvSpPr>
          <p:cNvPr id="15" name="cache-top-title-1">
            <a:extLst>
              <a:ext uri="{FF2B5EF4-FFF2-40B4-BE49-F238E27FC236}">
                <a16:creationId xmlns:a16="http://schemas.microsoft.com/office/drawing/2014/main" id="{E58E4012-9458-46EE-BC96-67013FD7A54D}"/>
              </a:ext>
            </a:extLst>
          </p:cNvPr>
          <p:cNvSpPr>
            <a:spLocks noGrp="1"/>
          </p:cNvSpPr>
          <p:nvPr/>
        </p:nvSpPr>
        <p:spPr>
          <a:xfrm>
            <a:off x="3714750" y="2533650"/>
            <a:ext cx="1657350" cy="266700"/>
          </a:xfrm>
          <a:prstGeom prst="rect">
            <a:avLst/>
          </a:prstGeom>
          <a:noFill/>
          <a:ln w="0">
            <a:noFill/>
            <a:prstDash val="solid"/>
          </a:ln>
        </p:spPr>
        <p:txBody>
          <a:bodyPr wrap="square" lIns="0" tIns="0" rIns="0" bIns="0" anchor="t">
            <a:noAutofit/>
          </a:bodyPr>
          <a:lstStyle/>
          <a:p>
            <a:pPr algn="ctr">
              <a:buNone/>
              <a:defRPr sz="1725" b="1" i="0">
                <a:solidFill>
                  <a:srgbClr val="111111"/>
                </a:solidFill>
                <a:latin typeface="Arial"/>
                <a:ea typeface="Arial"/>
                <a:cs typeface="Arial"/>
              </a:defRPr>
            </a:pPr>
            <a:r>
              <a:rPr sz="1725" b="1" i="0">
                <a:solidFill>
                  <a:srgbClr val="111111"/>
                </a:solidFill>
                <a:latin typeface="Arial"/>
                <a:ea typeface="Arial"/>
                <a:cs typeface="Arial"/>
              </a:rPr>
              <a:t>Append</a:t>
            </a:r>
          </a:p>
        </p:txBody>
      </p:sp>
      <p:sp>
        <p:nvSpPr>
          <p:cNvPr id="16" name="cache-top-sub-1">
            <a:extLst>
              <a:ext uri="{FF2B5EF4-FFF2-40B4-BE49-F238E27FC236}">
                <a16:creationId xmlns:a16="http://schemas.microsoft.com/office/drawing/2014/main" id="{3A90D945-1CC3-40D9-8B8A-CCBFD1CDDA81}"/>
              </a:ext>
            </a:extLst>
          </p:cNvPr>
          <p:cNvSpPr>
            <a:spLocks noGrp="1"/>
          </p:cNvSpPr>
          <p:nvPr/>
        </p:nvSpPr>
        <p:spPr>
          <a:xfrm>
            <a:off x="3714750" y="2943225"/>
            <a:ext cx="1657350" cy="285750"/>
          </a:xfrm>
          <a:prstGeom prst="rect">
            <a:avLst/>
          </a:prstGeom>
          <a:noFill/>
          <a:ln w="0">
            <a:noFill/>
            <a:prstDash val="solid"/>
          </a:ln>
        </p:spPr>
        <p:txBody>
          <a:bodyPr wrap="square" lIns="0" tIns="0" rIns="0" bIns="0" anchor="t">
            <a:noAutofit/>
          </a:bodyPr>
          <a:lstStyle/>
          <a:p>
            <a:pPr algn="ctr">
              <a:buNone/>
              <a:defRPr sz="1350" b="0" i="0">
                <a:solidFill>
                  <a:srgbClr val="5D6470"/>
                </a:solidFill>
                <a:latin typeface="Arial"/>
                <a:ea typeface="Arial"/>
                <a:cs typeface="Arial"/>
              </a:defRPr>
            </a:pPr>
            <a:r>
              <a:rPr sz="1350" b="0" i="0">
                <a:solidFill>
                  <a:srgbClr val="5D6470"/>
                </a:solidFill>
                <a:latin typeface="Arial"/>
                <a:ea typeface="Arial"/>
                <a:cs typeface="Arial"/>
              </a:rPr>
              <a:t>Project fallback</a:t>
            </a:r>
          </a:p>
        </p:txBody>
      </p:sp>
      <p:sp>
        <p:nvSpPr>
          <p:cNvPr id="17" name="cache-top-title-2">
            <a:extLst>
              <a:ext uri="{FF2B5EF4-FFF2-40B4-BE49-F238E27FC236}">
                <a16:creationId xmlns:a16="http://schemas.microsoft.com/office/drawing/2014/main" id="{F0A25D63-0FA1-43FA-A7C3-15258A008BDB}"/>
              </a:ext>
            </a:extLst>
          </p:cNvPr>
          <p:cNvSpPr>
            <a:spLocks noGrp="1"/>
          </p:cNvSpPr>
          <p:nvPr/>
        </p:nvSpPr>
        <p:spPr>
          <a:xfrm>
            <a:off x="6477000" y="2533650"/>
            <a:ext cx="1657350" cy="266700"/>
          </a:xfrm>
          <a:prstGeom prst="rect">
            <a:avLst/>
          </a:prstGeom>
          <a:noFill/>
          <a:ln w="0">
            <a:noFill/>
            <a:prstDash val="solid"/>
          </a:ln>
        </p:spPr>
        <p:txBody>
          <a:bodyPr wrap="square" lIns="0" tIns="0" rIns="0" bIns="0" anchor="t">
            <a:noAutofit/>
          </a:bodyPr>
          <a:lstStyle/>
          <a:p>
            <a:pPr algn="ctr">
              <a:buNone/>
              <a:defRPr sz="1725" b="1" i="0">
                <a:solidFill>
                  <a:srgbClr val="111111"/>
                </a:solidFill>
                <a:latin typeface="Arial"/>
                <a:ea typeface="Arial"/>
                <a:cs typeface="Arial"/>
              </a:defRPr>
            </a:pPr>
            <a:r>
              <a:rPr sz="1725" b="1" i="0">
                <a:solidFill>
                  <a:srgbClr val="111111"/>
                </a:solidFill>
                <a:latin typeface="Arial"/>
                <a:ea typeface="Arial"/>
                <a:cs typeface="Arial"/>
              </a:rPr>
              <a:t>Persist</a:t>
            </a:r>
          </a:p>
        </p:txBody>
      </p:sp>
      <p:sp>
        <p:nvSpPr>
          <p:cNvPr id="18" name="cache-top-sub-2">
            <a:extLst>
              <a:ext uri="{FF2B5EF4-FFF2-40B4-BE49-F238E27FC236}">
                <a16:creationId xmlns:a16="http://schemas.microsoft.com/office/drawing/2014/main" id="{7B88976E-F597-4636-8C74-804763B6E18E}"/>
              </a:ext>
            </a:extLst>
          </p:cNvPr>
          <p:cNvSpPr>
            <a:spLocks noGrp="1"/>
          </p:cNvSpPr>
          <p:nvPr/>
        </p:nvSpPr>
        <p:spPr>
          <a:xfrm>
            <a:off x="6477000" y="2943225"/>
            <a:ext cx="1657350" cy="285750"/>
          </a:xfrm>
          <a:prstGeom prst="rect">
            <a:avLst/>
          </a:prstGeom>
          <a:noFill/>
          <a:ln w="0">
            <a:noFill/>
            <a:prstDash val="solid"/>
          </a:ln>
        </p:spPr>
        <p:txBody>
          <a:bodyPr wrap="square" lIns="0" tIns="0" rIns="0" bIns="0" anchor="t">
            <a:noAutofit/>
          </a:bodyPr>
          <a:lstStyle/>
          <a:p>
            <a:pPr algn="ctr">
              <a:buNone/>
              <a:defRPr sz="1350" b="0" i="0">
                <a:solidFill>
                  <a:srgbClr val="5D6470"/>
                </a:solidFill>
                <a:latin typeface="Arial"/>
                <a:ea typeface="Arial"/>
                <a:cs typeface="Arial"/>
              </a:defRPr>
            </a:pPr>
            <a:r>
              <a:rPr sz="1350" b="0" i="0">
                <a:solidFill>
                  <a:srgbClr val="5D6470"/>
                </a:solidFill>
                <a:latin typeface="Arial"/>
                <a:ea typeface="Arial"/>
                <a:cs typeface="Arial"/>
              </a:rPr>
              <a:t>Total N + 1</a:t>
            </a:r>
          </a:p>
        </p:txBody>
      </p:sp>
      <p:sp>
        <p:nvSpPr>
          <p:cNvPr id="19" name="cache-top-title-3">
            <a:extLst>
              <a:ext uri="{FF2B5EF4-FFF2-40B4-BE49-F238E27FC236}">
                <a16:creationId xmlns:a16="http://schemas.microsoft.com/office/drawing/2014/main" id="{F9C8BB3B-ABD1-4DFC-AFEA-21A300CD06C2}"/>
              </a:ext>
            </a:extLst>
          </p:cNvPr>
          <p:cNvSpPr>
            <a:spLocks noGrp="1"/>
          </p:cNvSpPr>
          <p:nvPr/>
        </p:nvSpPr>
        <p:spPr>
          <a:xfrm>
            <a:off x="9239250" y="2533650"/>
            <a:ext cx="1657350" cy="266700"/>
          </a:xfrm>
          <a:prstGeom prst="rect">
            <a:avLst/>
          </a:prstGeom>
          <a:noFill/>
          <a:ln w="0">
            <a:noFill/>
            <a:prstDash val="solid"/>
          </a:ln>
        </p:spPr>
        <p:txBody>
          <a:bodyPr wrap="square" lIns="0" tIns="0" rIns="0" bIns="0" anchor="t">
            <a:noAutofit/>
          </a:bodyPr>
          <a:lstStyle/>
          <a:p>
            <a:pPr algn="ctr">
              <a:buNone/>
              <a:defRPr sz="1725" b="1" i="0">
                <a:solidFill>
                  <a:srgbClr val="111111"/>
                </a:solidFill>
                <a:latin typeface="Arial"/>
                <a:ea typeface="Arial"/>
                <a:cs typeface="Arial"/>
              </a:defRPr>
            </a:pPr>
            <a:r>
              <a:rPr sz="1725" b="1" i="0">
                <a:solidFill>
                  <a:srgbClr val="111111"/>
                </a:solidFill>
                <a:latin typeface="Arial"/>
                <a:ea typeface="Arial"/>
                <a:cs typeface="Arial"/>
              </a:rPr>
              <a:t>Respond</a:t>
            </a:r>
          </a:p>
        </p:txBody>
      </p:sp>
      <p:sp>
        <p:nvSpPr>
          <p:cNvPr id="20" name="cache-top-sub-3">
            <a:extLst>
              <a:ext uri="{FF2B5EF4-FFF2-40B4-BE49-F238E27FC236}">
                <a16:creationId xmlns:a16="http://schemas.microsoft.com/office/drawing/2014/main" id="{880FCC81-D08C-4A13-8BC7-15E1DB837416}"/>
              </a:ext>
            </a:extLst>
          </p:cNvPr>
          <p:cNvSpPr>
            <a:spLocks noGrp="1"/>
          </p:cNvSpPr>
          <p:nvPr/>
        </p:nvSpPr>
        <p:spPr>
          <a:xfrm>
            <a:off x="9239250" y="2943225"/>
            <a:ext cx="1657350" cy="285750"/>
          </a:xfrm>
          <a:prstGeom prst="rect">
            <a:avLst/>
          </a:prstGeom>
          <a:noFill/>
          <a:ln w="0">
            <a:noFill/>
            <a:prstDash val="solid"/>
          </a:ln>
        </p:spPr>
        <p:txBody>
          <a:bodyPr wrap="square" lIns="0" tIns="0" rIns="0" bIns="0" anchor="t">
            <a:noAutofit/>
          </a:bodyPr>
          <a:lstStyle/>
          <a:p>
            <a:pPr algn="ctr">
              <a:buNone/>
              <a:defRPr sz="1350" b="0" i="0">
                <a:solidFill>
                  <a:srgbClr val="5D6470"/>
                </a:solidFill>
                <a:latin typeface="Arial"/>
                <a:ea typeface="Arial"/>
                <a:cs typeface="Arial"/>
              </a:defRPr>
            </a:pPr>
            <a:r>
              <a:rPr sz="1350" b="0" i="0">
                <a:solidFill>
                  <a:srgbClr val="5D6470"/>
                </a:solidFill>
                <a:latin typeface="Arial"/>
                <a:ea typeface="Arial"/>
                <a:cs typeface="Arial"/>
              </a:rPr>
              <a:t>UI starts now</a:t>
            </a:r>
          </a:p>
        </p:txBody>
      </p:sp>
      <p:sp>
        <p:nvSpPr>
          <p:cNvPr id="21" name="replay-label">
            <a:extLst>
              <a:ext uri="{FF2B5EF4-FFF2-40B4-BE49-F238E27FC236}">
                <a16:creationId xmlns:a16="http://schemas.microsoft.com/office/drawing/2014/main" id="{3E1B9FE9-E837-4512-935C-CC99893F2B69}"/>
              </a:ext>
            </a:extLst>
          </p:cNvPr>
          <p:cNvSpPr>
            <a:spLocks noGrp="1"/>
          </p:cNvSpPr>
          <p:nvPr/>
        </p:nvSpPr>
        <p:spPr>
          <a:xfrm>
            <a:off x="400050" y="4057650"/>
            <a:ext cx="1905000" cy="285750"/>
          </a:xfrm>
          <a:prstGeom prst="rect">
            <a:avLst/>
          </a:prstGeom>
          <a:noFill/>
          <a:ln w="0">
            <a:noFill/>
            <a:prstDash val="solid"/>
          </a:ln>
        </p:spPr>
        <p:txBody>
          <a:bodyPr wrap="square" lIns="0" tIns="0" rIns="0" bIns="0" anchor="t">
            <a:noAutofit/>
          </a:bodyPr>
          <a:lstStyle/>
          <a:p>
            <a:pPr algn="l">
              <a:buNone/>
              <a:defRPr sz="1425" b="1" i="0">
                <a:solidFill>
                  <a:srgbClr val="45B98D"/>
                </a:solidFill>
                <a:latin typeface="Arial"/>
                <a:ea typeface="Arial"/>
                <a:cs typeface="Arial"/>
              </a:defRPr>
            </a:pPr>
            <a:r>
              <a:rPr sz="1425" b="1" i="0">
                <a:solidFill>
                  <a:srgbClr val="45B98D"/>
                </a:solidFill>
                <a:latin typeface="Arial"/>
                <a:ea typeface="Arial"/>
                <a:cs typeface="Arial"/>
              </a:rPr>
              <a:t>BACKGROUND ENRICHMENT</a:t>
            </a:r>
          </a:p>
        </p:txBody>
      </p:sp>
      <p:sp>
        <p:nvSpPr>
          <p:cNvPr id="22" name="replay-lookup">
            <a:extLst>
              <a:ext uri="{FF2B5EF4-FFF2-40B4-BE49-F238E27FC236}">
                <a16:creationId xmlns:a16="http://schemas.microsoft.com/office/drawing/2014/main" id="{C9490E5E-7270-4B80-940E-E211E47ED380}"/>
              </a:ext>
            </a:extLst>
          </p:cNvPr>
          <p:cNvSpPr>
            <a:spLocks noGrp="1"/>
          </p:cNvSpPr>
          <p:nvPr/>
        </p:nvSpPr>
        <p:spPr>
          <a:xfrm>
            <a:off x="2495550" y="4552950"/>
            <a:ext cx="2667000" cy="952500"/>
          </a:xfrm>
          <a:prstGeom prst="rect">
            <a:avLst/>
          </a:prstGeom>
          <a:solidFill>
            <a:srgbClr val="E7F8F1"/>
          </a:solidFill>
          <a:ln w="9525">
            <a:solidFill>
              <a:srgbClr val="45B98D"/>
            </a:solidFill>
            <a:prstDash val="solid"/>
          </a:ln>
        </p:spPr>
      </p:sp>
      <p:sp>
        <p:nvSpPr>
          <p:cNvPr id="23" name="replay-return">
            <a:extLst>
              <a:ext uri="{FF2B5EF4-FFF2-40B4-BE49-F238E27FC236}">
                <a16:creationId xmlns:a16="http://schemas.microsoft.com/office/drawing/2014/main" id="{49B6923D-86E4-4803-91C9-F39FE9C878BF}"/>
              </a:ext>
            </a:extLst>
          </p:cNvPr>
          <p:cNvSpPr>
            <a:spLocks noGrp="1"/>
          </p:cNvSpPr>
          <p:nvPr/>
        </p:nvSpPr>
        <p:spPr>
          <a:xfrm>
            <a:off x="7067550" y="4552950"/>
            <a:ext cx="2667000" cy="952500"/>
          </a:xfrm>
          <a:prstGeom prst="rect">
            <a:avLst/>
          </a:prstGeom>
          <a:solidFill>
            <a:srgbClr val="E7F8F1"/>
          </a:solidFill>
          <a:ln w="9525">
            <a:solidFill>
              <a:srgbClr val="45B98D"/>
            </a:solidFill>
            <a:prstDash val="solid"/>
          </a:ln>
        </p:spPr>
      </p:sp>
      <p:cxnSp>
        <p:nvCxnSpPr>
          <p:cNvPr id="100" name="Straight Arrow Connector 99"/>
          <p:cNvCxnSpPr>
            <a:stCxn id="22" idx="3"/>
            <a:endCxn id="23" idx="1"/>
          </p:cNvCxnSpPr>
          <p:nvPr/>
        </p:nvCxnSpPr>
        <p:spPr>
          <a:xfrm>
            <a:off x="5162550" y="5029200"/>
            <a:ext cx="1905000" cy="0"/>
          </a:xfrm>
          <a:prstGeom prst="straightConnector1">
            <a:avLst/>
          </a:prstGeom>
          <a:ln w="28575">
            <a:solidFill>
              <a:srgbClr val="45B98D"/>
            </a:solidFill>
            <a:prstDash val="solid"/>
            <a:tailEnd type="arrow" w="med" len="med"/>
          </a:ln>
        </p:spPr>
      </p:cxnSp>
      <p:sp>
        <p:nvSpPr>
          <p:cNvPr id="25" name="replay-lookup-title">
            <a:extLst>
              <a:ext uri="{FF2B5EF4-FFF2-40B4-BE49-F238E27FC236}">
                <a16:creationId xmlns:a16="http://schemas.microsoft.com/office/drawing/2014/main" id="{01B0EDB6-1943-4144-8559-4F0C062EE1DC}"/>
              </a:ext>
            </a:extLst>
          </p:cNvPr>
          <p:cNvSpPr>
            <a:spLocks noGrp="1"/>
          </p:cNvSpPr>
          <p:nvPr/>
        </p:nvSpPr>
        <p:spPr>
          <a:xfrm>
            <a:off x="2724150" y="4724400"/>
            <a:ext cx="2209800" cy="285750"/>
          </a:xfrm>
          <a:prstGeom prst="rect">
            <a:avLst/>
          </a:prstGeom>
          <a:noFill/>
          <a:ln w="0">
            <a:noFill/>
            <a:prstDash val="solid"/>
          </a:ln>
        </p:spPr>
        <p:txBody>
          <a:bodyPr wrap="square" lIns="0" tIns="0" rIns="0" bIns="0" anchor="t">
            <a:noAutofit/>
          </a:bodyPr>
          <a:lstStyle/>
          <a:p>
            <a:pPr algn="ctr">
              <a:buNone/>
              <a:defRPr sz="1875" b="1" i="0">
                <a:solidFill>
                  <a:srgbClr val="45B98D"/>
                </a:solidFill>
                <a:latin typeface="Arial"/>
                <a:ea typeface="Arial"/>
                <a:cs typeface="Arial"/>
              </a:defRPr>
            </a:pPr>
            <a:r>
              <a:rPr sz="1875" b="1" i="0">
                <a:solidFill>
                  <a:srgbClr val="45B98D"/>
                </a:solidFill>
                <a:latin typeface="Arial"/>
                <a:ea typeface="Arial"/>
                <a:cs typeface="Arial"/>
              </a:rPr>
              <a:t>Retrieve top 5</a:t>
            </a:r>
          </a:p>
        </p:txBody>
      </p:sp>
      <p:sp>
        <p:nvSpPr>
          <p:cNvPr id="26" name="replay-lookup-sub">
            <a:extLst>
              <a:ext uri="{FF2B5EF4-FFF2-40B4-BE49-F238E27FC236}">
                <a16:creationId xmlns:a16="http://schemas.microsoft.com/office/drawing/2014/main" id="{2820DE22-9766-47FD-883F-A043E71D6741}"/>
              </a:ext>
            </a:extLst>
          </p:cNvPr>
          <p:cNvSpPr>
            <a:spLocks noGrp="1"/>
          </p:cNvSpPr>
          <p:nvPr/>
        </p:nvSpPr>
        <p:spPr>
          <a:xfrm>
            <a:off x="2724150" y="5124450"/>
            <a:ext cx="2209800" cy="238125"/>
          </a:xfrm>
          <a:prstGeom prst="rect">
            <a:avLst/>
          </a:prstGeom>
          <a:noFill/>
          <a:ln w="0">
            <a:noFill/>
            <a:prstDash val="solid"/>
          </a:ln>
        </p:spPr>
        <p:txBody>
          <a:bodyPr wrap="square" lIns="0" tIns="0" rIns="0" bIns="0" anchor="t">
            <a:noAutofit/>
          </a:bodyPr>
          <a:lstStyle/>
          <a:p>
            <a:pPr algn="ctr">
              <a:buNone/>
              <a:defRPr sz="1425" b="0" i="0">
                <a:solidFill>
                  <a:srgbClr val="5D6470"/>
                </a:solidFill>
                <a:latin typeface="Arial"/>
                <a:ea typeface="Arial"/>
                <a:cs typeface="Arial"/>
              </a:defRPr>
            </a:pPr>
            <a:r>
              <a:rPr sz="1425" b="0" i="0">
                <a:solidFill>
                  <a:srgbClr val="5D6470"/>
                </a:solidFill>
                <a:latin typeface="Arial"/>
                <a:ea typeface="Arial"/>
                <a:cs typeface="Arial"/>
              </a:rPr>
              <a:t>Local query vector</a:t>
            </a:r>
          </a:p>
        </p:txBody>
      </p:sp>
      <p:sp>
        <p:nvSpPr>
          <p:cNvPr id="27" name="replay-return-title">
            <a:extLst>
              <a:ext uri="{FF2B5EF4-FFF2-40B4-BE49-F238E27FC236}">
                <a16:creationId xmlns:a16="http://schemas.microsoft.com/office/drawing/2014/main" id="{46B6C635-C82E-4E25-A724-14DAD0471BB4}"/>
              </a:ext>
            </a:extLst>
          </p:cNvPr>
          <p:cNvSpPr>
            <a:spLocks noGrp="1"/>
          </p:cNvSpPr>
          <p:nvPr/>
        </p:nvSpPr>
        <p:spPr>
          <a:xfrm>
            <a:off x="7296150" y="4724400"/>
            <a:ext cx="2209800" cy="285750"/>
          </a:xfrm>
          <a:prstGeom prst="rect">
            <a:avLst/>
          </a:prstGeom>
          <a:noFill/>
          <a:ln w="0">
            <a:noFill/>
            <a:prstDash val="solid"/>
          </a:ln>
        </p:spPr>
        <p:txBody>
          <a:bodyPr wrap="square" lIns="0" tIns="0" rIns="0" bIns="0" anchor="t">
            <a:noAutofit/>
          </a:bodyPr>
          <a:lstStyle/>
          <a:p>
            <a:pPr algn="ctr">
              <a:buNone/>
              <a:defRPr sz="1875" b="1" i="0">
                <a:solidFill>
                  <a:srgbClr val="45B98D"/>
                </a:solidFill>
                <a:latin typeface="Arial"/>
                <a:ea typeface="Arial"/>
                <a:cs typeface="Arial"/>
              </a:defRPr>
            </a:pPr>
            <a:r>
              <a:rPr sz="1875" b="1" i="0">
                <a:solidFill>
                  <a:srgbClr val="45B98D"/>
                </a:solidFill>
                <a:latin typeface="Arial"/>
                <a:ea typeface="Arial"/>
                <a:cs typeface="Arial"/>
              </a:rPr>
              <a:t>Ground final</a:t>
            </a:r>
          </a:p>
        </p:txBody>
      </p:sp>
      <p:sp>
        <p:nvSpPr>
          <p:cNvPr id="28" name="replay-return-sub">
            <a:extLst>
              <a:ext uri="{FF2B5EF4-FFF2-40B4-BE49-F238E27FC236}">
                <a16:creationId xmlns:a16="http://schemas.microsoft.com/office/drawing/2014/main" id="{50EBC68C-89E2-4F97-92CF-DE2DE50E9163}"/>
              </a:ext>
            </a:extLst>
          </p:cNvPr>
          <p:cNvSpPr>
            <a:spLocks noGrp="1"/>
          </p:cNvSpPr>
          <p:nvPr/>
        </p:nvSpPr>
        <p:spPr>
          <a:xfrm>
            <a:off x="7296150" y="5124450"/>
            <a:ext cx="2209800" cy="238125"/>
          </a:xfrm>
          <a:prstGeom prst="rect">
            <a:avLst/>
          </a:prstGeom>
          <a:noFill/>
          <a:ln w="0">
            <a:noFill/>
            <a:prstDash val="solid"/>
          </a:ln>
        </p:spPr>
        <p:txBody>
          <a:bodyPr wrap="square" lIns="0" tIns="0" rIns="0" bIns="0" anchor="t">
            <a:noAutofit/>
          </a:bodyPr>
          <a:lstStyle/>
          <a:p>
            <a:pPr algn="ctr">
              <a:buNone/>
              <a:defRPr sz="1425" b="0" i="0">
                <a:solidFill>
                  <a:srgbClr val="5D6470"/>
                </a:solidFill>
                <a:latin typeface="Arial"/>
                <a:ea typeface="Arial"/>
                <a:cs typeface="Arial"/>
              </a:defRPr>
            </a:pPr>
            <a:r>
              <a:rPr sz="1425" b="0" i="0">
                <a:solidFill>
                  <a:srgbClr val="5D6470"/>
                </a:solidFill>
                <a:latin typeface="Arial"/>
                <a:ea typeface="Arial"/>
                <a:cs typeface="Arial"/>
              </a:rPr>
              <a:t>Grounded by evidence</a:t>
            </a:r>
          </a:p>
        </p:txBody>
      </p:sp>
    </p:spTree>
    <p:extLst>
      <p:ext uri="{BB962C8B-B14F-4D97-AF65-F5344CB8AC3E}">
        <p14:creationId xmlns:p14="http://schemas.microsoft.com/office/powerpoint/2010/main" val="759696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eyebrow-7">
            <a:extLst>
              <a:ext uri="{FF2B5EF4-FFF2-40B4-BE49-F238E27FC236}">
                <a16:creationId xmlns:a16="http://schemas.microsoft.com/office/drawing/2014/main" id="{94E1AEF3-9715-4305-9922-4637ED35CA0E}"/>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7">
            <a:extLst>
              <a:ext uri="{FF2B5EF4-FFF2-40B4-BE49-F238E27FC236}">
                <a16:creationId xmlns:a16="http://schemas.microsoft.com/office/drawing/2014/main" id="{82AA0E0C-5293-459C-92B5-42492F2C9266}"/>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The API and UI make indexing explicit</a:t>
            </a:r>
          </a:p>
        </p:txBody>
      </p:sp>
      <p:sp>
        <p:nvSpPr>
          <p:cNvPr id="3" name="title-rule-7">
            <a:extLst>
              <a:ext uri="{FF2B5EF4-FFF2-40B4-BE49-F238E27FC236}">
                <a16:creationId xmlns:a16="http://schemas.microsoft.com/office/drawing/2014/main" id="{9B751616-17C5-4658-81C7-01458B580765}"/>
              </a:ext>
            </a:extLst>
          </p:cNvPr>
          <p:cNvSpPr>
            <a:spLocks noGrp="1"/>
          </p:cNvSpPr>
          <p:nvPr/>
        </p:nvSpPr>
        <p:spPr>
          <a:xfrm>
            <a:off x="400050" y="1362075"/>
            <a:ext cx="11391900" cy="9525"/>
          </a:xfrm>
          <a:prstGeom prst="rect">
            <a:avLst/>
          </a:prstGeom>
          <a:solidFill>
            <a:srgbClr val="B8BCC4"/>
          </a:solidFill>
          <a:ln w="0">
            <a:solidFill>
              <a:srgbClr val="B8BCC4"/>
            </a:solidFill>
            <a:prstDash val="solid"/>
          </a:ln>
        </p:spPr>
      </p:sp>
      <p:sp>
        <p:nvSpPr>
          <p:cNvPr id="4" name="slide-number-7">
            <a:extLst>
              <a:ext uri="{FF2B5EF4-FFF2-40B4-BE49-F238E27FC236}">
                <a16:creationId xmlns:a16="http://schemas.microsoft.com/office/drawing/2014/main" id="{5F1B3341-F3F7-4B3D-8866-97568A5AEA6A}"/>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07</a:t>
            </a:r>
          </a:p>
        </p:txBody>
      </p:sp>
      <p:sp>
        <p:nvSpPr>
          <p:cNvPr id="5" name="api-col-label">
            <a:extLst>
              <a:ext uri="{FF2B5EF4-FFF2-40B4-BE49-F238E27FC236}">
                <a16:creationId xmlns:a16="http://schemas.microsoft.com/office/drawing/2014/main" id="{8C122A3B-8C15-49BC-8EC1-0FF258808436}"/>
              </a:ext>
            </a:extLst>
          </p:cNvPr>
          <p:cNvSpPr>
            <a:spLocks noGrp="1"/>
          </p:cNvSpPr>
          <p:nvPr/>
        </p:nvSpPr>
        <p:spPr>
          <a:xfrm>
            <a:off x="400050" y="1695450"/>
            <a:ext cx="2857500" cy="266700"/>
          </a:xfrm>
          <a:prstGeom prst="rect">
            <a:avLst/>
          </a:prstGeom>
          <a:noFill/>
          <a:ln w="0">
            <a:noFill/>
            <a:prstDash val="solid"/>
          </a:ln>
        </p:spPr>
        <p:txBody>
          <a:bodyPr wrap="square" lIns="0" tIns="0" rIns="0" bIns="0" anchor="t">
            <a:noAutofit/>
          </a:bodyPr>
          <a:lstStyle/>
          <a:p>
            <a:pPr algn="l">
              <a:buNone/>
              <a:defRPr sz="1425" b="1" i="0">
                <a:solidFill>
                  <a:srgbClr val="5A36B5"/>
                </a:solidFill>
                <a:latin typeface="Arial"/>
                <a:ea typeface="Arial"/>
                <a:cs typeface="Arial"/>
              </a:defRPr>
            </a:pPr>
            <a:r>
              <a:rPr sz="1425" b="1" i="0">
                <a:solidFill>
                  <a:srgbClr val="5A36B5"/>
                </a:solidFill>
                <a:latin typeface="Arial"/>
                <a:ea typeface="Arial"/>
                <a:cs typeface="Arial"/>
              </a:rPr>
              <a:t>BACKEND CONTRACT</a:t>
            </a:r>
          </a:p>
        </p:txBody>
      </p:sp>
      <p:sp>
        <p:nvSpPr>
          <p:cNvPr id="6" name="api-code-bg">
            <a:extLst>
              <a:ext uri="{FF2B5EF4-FFF2-40B4-BE49-F238E27FC236}">
                <a16:creationId xmlns:a16="http://schemas.microsoft.com/office/drawing/2014/main" id="{8213E3F4-0CC4-48FC-AD0B-6434E037532B}"/>
              </a:ext>
            </a:extLst>
          </p:cNvPr>
          <p:cNvSpPr>
            <a:spLocks noGrp="1"/>
          </p:cNvSpPr>
          <p:nvPr/>
        </p:nvSpPr>
        <p:spPr>
          <a:xfrm>
            <a:off x="400050" y="2095500"/>
            <a:ext cx="5429250" cy="2381250"/>
          </a:xfrm>
          <a:prstGeom prst="rect">
            <a:avLst/>
          </a:prstGeom>
          <a:solidFill>
            <a:srgbClr val="F6F6F7"/>
          </a:solidFill>
          <a:ln w="9525">
            <a:solidFill>
              <a:srgbClr val="B8BCC4"/>
            </a:solidFill>
            <a:prstDash val="solid"/>
          </a:ln>
        </p:spPr>
      </p:sp>
      <p:sp>
        <p:nvSpPr>
          <p:cNvPr id="7" name="api-code">
            <a:extLst>
              <a:ext uri="{FF2B5EF4-FFF2-40B4-BE49-F238E27FC236}">
                <a16:creationId xmlns:a16="http://schemas.microsoft.com/office/drawing/2014/main" id="{491F6FCA-5765-46B4-9397-5FA285F4EF41}"/>
              </a:ext>
            </a:extLst>
          </p:cNvPr>
          <p:cNvSpPr>
            <a:spLocks noGrp="1"/>
          </p:cNvSpPr>
          <p:nvPr/>
        </p:nvSpPr>
        <p:spPr>
          <a:xfrm>
            <a:off x="609600" y="2286000"/>
            <a:ext cx="5010150" cy="203835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POST /api/projects</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POST /projects/{id}/sections</a:t>
            </a:r>
          </a:p>
          <a:p>
            <a:r>
              <a:t>POST /projects/{id}/reindex</a:t>
            </a:r>
          </a:p>
          <a:p>
            <a:pPr algn="l">
              <a:buNone/>
              <a:defRPr sz="1575" b="0" i="0">
                <a:solidFill>
                  <a:srgbClr val="111111"/>
                </a:solidFill>
                <a:latin typeface="Courier New"/>
                <a:ea typeface="Courier New"/>
                <a:cs typeface="Courier New"/>
              </a:defRPr>
            </a:pPr>
            <a:endParaRP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text -&gt; chunks -&gt; local vectors</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image -&gt; GPT-4o-mini -&gt; local vectors</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retrieve by cosine distance</a:t>
            </a:r>
          </a:p>
        </p:txBody>
      </p:sp>
      <p:sp>
        <p:nvSpPr>
          <p:cNvPr id="8" name="ui-col-label">
            <a:extLst>
              <a:ext uri="{FF2B5EF4-FFF2-40B4-BE49-F238E27FC236}">
                <a16:creationId xmlns:a16="http://schemas.microsoft.com/office/drawing/2014/main" id="{5CB10151-B920-4C46-B4F3-D5B0B4D6862C}"/>
              </a:ext>
            </a:extLst>
          </p:cNvPr>
          <p:cNvSpPr>
            <a:spLocks noGrp="1"/>
          </p:cNvSpPr>
          <p:nvPr/>
        </p:nvSpPr>
        <p:spPr>
          <a:xfrm>
            <a:off x="6362700" y="1695450"/>
            <a:ext cx="2857500" cy="266700"/>
          </a:xfrm>
          <a:prstGeom prst="rect">
            <a:avLst/>
          </a:prstGeom>
          <a:noFill/>
          <a:ln w="0">
            <a:noFill/>
            <a:prstDash val="solid"/>
          </a:ln>
        </p:spPr>
        <p:txBody>
          <a:bodyPr wrap="square" lIns="0" tIns="0" rIns="0" bIns="0" anchor="t">
            <a:noAutofit/>
          </a:bodyPr>
          <a:lstStyle/>
          <a:p>
            <a:pPr algn="l">
              <a:buNone/>
              <a:defRPr sz="1425" b="1" i="0">
                <a:solidFill>
                  <a:srgbClr val="3D8DFF"/>
                </a:solidFill>
                <a:latin typeface="Arial"/>
                <a:ea typeface="Arial"/>
                <a:cs typeface="Arial"/>
              </a:defRPr>
            </a:pPr>
            <a:r>
              <a:rPr sz="1425" b="1" i="0">
                <a:solidFill>
                  <a:srgbClr val="3D8DFF"/>
                </a:solidFill>
                <a:latin typeface="Arial"/>
                <a:ea typeface="Arial"/>
                <a:cs typeface="Arial"/>
              </a:rPr>
              <a:t>FRONTEND BEHAVIOR</a:t>
            </a:r>
          </a:p>
        </p:txBody>
      </p:sp>
      <p:sp>
        <p:nvSpPr>
          <p:cNvPr id="9" name="ui-code-bg">
            <a:extLst>
              <a:ext uri="{FF2B5EF4-FFF2-40B4-BE49-F238E27FC236}">
                <a16:creationId xmlns:a16="http://schemas.microsoft.com/office/drawing/2014/main" id="{311B60F4-9620-4A6A-B4FF-D6AC8B721A2F}"/>
              </a:ext>
            </a:extLst>
          </p:cNvPr>
          <p:cNvSpPr>
            <a:spLocks noGrp="1"/>
          </p:cNvSpPr>
          <p:nvPr/>
        </p:nvSpPr>
        <p:spPr>
          <a:xfrm>
            <a:off x="6362700" y="2095500"/>
            <a:ext cx="5429250" cy="2381250"/>
          </a:xfrm>
          <a:prstGeom prst="rect">
            <a:avLst/>
          </a:prstGeom>
          <a:solidFill>
            <a:srgbClr val="F6F6F7"/>
          </a:solidFill>
          <a:ln w="9525">
            <a:solidFill>
              <a:srgbClr val="B8BCC4"/>
            </a:solidFill>
            <a:prstDash val="solid"/>
          </a:ln>
        </p:spPr>
      </p:sp>
      <p:sp>
        <p:nvSpPr>
          <p:cNvPr id="10" name="ui-code">
            <a:extLst>
              <a:ext uri="{FF2B5EF4-FFF2-40B4-BE49-F238E27FC236}">
                <a16:creationId xmlns:a16="http://schemas.microsoft.com/office/drawing/2014/main" id="{3D887EC5-8E05-4848-AE75-C568B8AEB2D1}"/>
              </a:ext>
            </a:extLst>
          </p:cNvPr>
          <p:cNvSpPr>
            <a:spLocks noGrp="1"/>
          </p:cNvSpPr>
          <p:nvPr/>
        </p:nvSpPr>
        <p:spPr>
          <a:xfrm>
            <a:off x="6572250" y="2324100"/>
            <a:ext cx="5010150" cy="190500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open project workspace</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create or edit a page</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add text / upload image</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click Build RAG</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watch pending -&gt; processing -&gt; ready</a:t>
            </a:r>
          </a:p>
          <a:p>
            <a:pPr algn="l">
              <a:buNone/>
              <a:defRPr sz="1575" b="0" i="0">
                <a:solidFill>
                  <a:srgbClr val="111111"/>
                </a:solidFill>
                <a:latin typeface="Courier New"/>
                <a:ea typeface="Courier New"/>
                <a:cs typeface="Courier New"/>
              </a:defRPr>
            </a:pPr>
            <a:r>
              <a:rPr sz="1575" b="0" i="0">
                <a:solidFill>
                  <a:srgbClr val="111111"/>
                </a:solidFill>
                <a:latin typeface="Courier New"/>
                <a:ea typeface="Courier New"/>
                <a:cs typeface="Courier New"/>
              </a:rPr>
              <a:t>select project at interview start</a:t>
            </a:r>
          </a:p>
        </p:txBody>
      </p:sp>
      <p:sp>
        <p:nvSpPr>
          <p:cNvPr id="11" name="status-bg-0">
            <a:extLst>
              <a:ext uri="{FF2B5EF4-FFF2-40B4-BE49-F238E27FC236}">
                <a16:creationId xmlns:a16="http://schemas.microsoft.com/office/drawing/2014/main" id="{6A4D80C4-1BA6-4D3C-BA0D-D9560341AB42}"/>
              </a:ext>
            </a:extLst>
          </p:cNvPr>
          <p:cNvSpPr>
            <a:spLocks noGrp="1"/>
          </p:cNvSpPr>
          <p:nvPr/>
        </p:nvSpPr>
        <p:spPr>
          <a:xfrm>
            <a:off x="400050" y="4953000"/>
            <a:ext cx="1981200" cy="781050"/>
          </a:xfrm>
          <a:prstGeom prst="rect">
            <a:avLst/>
          </a:prstGeom>
          <a:solidFill>
            <a:srgbClr val="E7F8F1"/>
          </a:solidFill>
          <a:ln w="0">
            <a:solidFill>
              <a:srgbClr val="E7F8F1"/>
            </a:solidFill>
            <a:prstDash val="solid"/>
          </a:ln>
        </p:spPr>
      </p:sp>
      <p:sp>
        <p:nvSpPr>
          <p:cNvPr id="12" name="status-code-0">
            <a:extLst>
              <a:ext uri="{FF2B5EF4-FFF2-40B4-BE49-F238E27FC236}">
                <a16:creationId xmlns:a16="http://schemas.microsoft.com/office/drawing/2014/main" id="{FB88C042-4453-425F-B8D3-DD08D4667F98}"/>
              </a:ext>
            </a:extLst>
          </p:cNvPr>
          <p:cNvSpPr>
            <a:spLocks noGrp="1"/>
          </p:cNvSpPr>
          <p:nvPr/>
        </p:nvSpPr>
        <p:spPr>
          <a:xfrm>
            <a:off x="533400" y="5114925"/>
            <a:ext cx="590550" cy="266700"/>
          </a:xfrm>
          <a:prstGeom prst="rect">
            <a:avLst/>
          </a:prstGeom>
          <a:noFill/>
          <a:ln w="0">
            <a:noFill/>
            <a:prstDash val="solid"/>
          </a:ln>
        </p:spPr>
        <p:txBody>
          <a:bodyPr wrap="square" lIns="0" tIns="0" rIns="0" bIns="0" anchor="t">
            <a:noAutofit/>
          </a:bodyPr>
          <a:lstStyle/>
          <a:p>
            <a:pPr algn="l">
              <a:buNone/>
              <a:defRPr sz="1875" b="1" i="0">
                <a:solidFill>
                  <a:srgbClr val="45B98D"/>
                </a:solidFill>
                <a:latin typeface="Arial"/>
                <a:ea typeface="Arial"/>
                <a:cs typeface="Arial"/>
              </a:defRPr>
            </a:pPr>
            <a:r>
              <a:rPr sz="1875" b="1" i="0">
                <a:solidFill>
                  <a:srgbClr val="45B98D"/>
                </a:solidFill>
                <a:latin typeface="Arial"/>
                <a:ea typeface="Arial"/>
                <a:cs typeface="Arial"/>
              </a:rPr>
              <a:t>ADD</a:t>
            </a:r>
          </a:p>
        </p:txBody>
      </p:sp>
      <p:sp>
        <p:nvSpPr>
          <p:cNvPr id="13" name="status-text-0">
            <a:extLst>
              <a:ext uri="{FF2B5EF4-FFF2-40B4-BE49-F238E27FC236}">
                <a16:creationId xmlns:a16="http://schemas.microsoft.com/office/drawing/2014/main" id="{C9DA2744-AE6A-45E0-853B-938CBBECA067}"/>
              </a:ext>
            </a:extLst>
          </p:cNvPr>
          <p:cNvSpPr>
            <a:spLocks noGrp="1"/>
          </p:cNvSpPr>
          <p:nvPr/>
        </p:nvSpPr>
        <p:spPr>
          <a:xfrm>
            <a:off x="1085850" y="5133975"/>
            <a:ext cx="1143000" cy="304800"/>
          </a:xfrm>
          <a:prstGeom prst="rect">
            <a:avLst/>
          </a:prstGeom>
          <a:noFill/>
          <a:ln w="0">
            <a:noFill/>
            <a:prstDash val="solid"/>
          </a:ln>
        </p:spPr>
        <p:txBody>
          <a:bodyPr wrap="square" lIns="0" tIns="0" rIns="0" bIns="0" anchor="t">
            <a:no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Project</a:t>
            </a:r>
          </a:p>
        </p:txBody>
      </p:sp>
      <p:sp>
        <p:nvSpPr>
          <p:cNvPr id="14" name="status-bg-1">
            <a:extLst>
              <a:ext uri="{FF2B5EF4-FFF2-40B4-BE49-F238E27FC236}">
                <a16:creationId xmlns:a16="http://schemas.microsoft.com/office/drawing/2014/main" id="{A6B3D5DB-45A8-4B84-8F64-86DBC37287D7}"/>
              </a:ext>
            </a:extLst>
          </p:cNvPr>
          <p:cNvSpPr>
            <a:spLocks noGrp="1"/>
          </p:cNvSpPr>
          <p:nvPr/>
        </p:nvSpPr>
        <p:spPr>
          <a:xfrm>
            <a:off x="2705100" y="4953000"/>
            <a:ext cx="1981200" cy="781050"/>
          </a:xfrm>
          <a:prstGeom prst="rect">
            <a:avLst/>
          </a:prstGeom>
          <a:solidFill>
            <a:srgbClr val="FFF4E4"/>
          </a:solidFill>
          <a:ln w="0">
            <a:solidFill>
              <a:srgbClr val="FFF4E4"/>
            </a:solidFill>
            <a:prstDash val="solid"/>
          </a:ln>
        </p:spPr>
      </p:sp>
      <p:sp>
        <p:nvSpPr>
          <p:cNvPr id="15" name="status-code-1">
            <a:extLst>
              <a:ext uri="{FF2B5EF4-FFF2-40B4-BE49-F238E27FC236}">
                <a16:creationId xmlns:a16="http://schemas.microsoft.com/office/drawing/2014/main" id="{8EF732BF-80D6-4FC3-A553-F4D62DC60C96}"/>
              </a:ext>
            </a:extLst>
          </p:cNvPr>
          <p:cNvSpPr>
            <a:spLocks noGrp="1"/>
          </p:cNvSpPr>
          <p:nvPr/>
        </p:nvSpPr>
        <p:spPr>
          <a:xfrm>
            <a:off x="2838450" y="5114925"/>
            <a:ext cx="590550" cy="266700"/>
          </a:xfrm>
          <a:prstGeom prst="rect">
            <a:avLst/>
          </a:prstGeom>
          <a:noFill/>
          <a:ln w="0">
            <a:noFill/>
            <a:prstDash val="solid"/>
          </a:ln>
        </p:spPr>
        <p:txBody>
          <a:bodyPr wrap="square" lIns="0" tIns="0" rIns="0" bIns="0" anchor="t">
            <a:noAutofit/>
          </a:bodyPr>
          <a:lstStyle/>
          <a:p>
            <a:pPr algn="l">
              <a:buNone/>
              <a:defRPr sz="1875" b="1" i="0">
                <a:solidFill>
                  <a:srgbClr val="D27A10"/>
                </a:solidFill>
                <a:latin typeface="Arial"/>
                <a:ea typeface="Arial"/>
                <a:cs typeface="Arial"/>
              </a:defRPr>
            </a:pPr>
            <a:r>
              <a:rPr sz="1875" b="1" i="0">
                <a:solidFill>
                  <a:srgbClr val="D27A10"/>
                </a:solidFill>
                <a:latin typeface="Arial"/>
                <a:ea typeface="Arial"/>
                <a:cs typeface="Arial"/>
              </a:rPr>
              <a:t>PUT</a:t>
            </a:r>
          </a:p>
        </p:txBody>
      </p:sp>
      <p:sp>
        <p:nvSpPr>
          <p:cNvPr id="16" name="status-text-1">
            <a:extLst>
              <a:ext uri="{FF2B5EF4-FFF2-40B4-BE49-F238E27FC236}">
                <a16:creationId xmlns:a16="http://schemas.microsoft.com/office/drawing/2014/main" id="{4A1A9B52-0233-45AA-A628-3F6CC3C4AA1D}"/>
              </a:ext>
            </a:extLst>
          </p:cNvPr>
          <p:cNvSpPr>
            <a:spLocks noGrp="1"/>
          </p:cNvSpPr>
          <p:nvPr/>
        </p:nvSpPr>
        <p:spPr>
          <a:xfrm>
            <a:off x="3390900" y="5133975"/>
            <a:ext cx="1143000" cy="304800"/>
          </a:xfrm>
          <a:prstGeom prst="rect">
            <a:avLst/>
          </a:prstGeom>
          <a:noFill/>
          <a:ln w="0">
            <a:noFill/>
            <a:prstDash val="solid"/>
          </a:ln>
        </p:spPr>
        <p:txBody>
          <a:bodyPr wrap="square" lIns="0" tIns="0" rIns="0" bIns="0" anchor="t">
            <a:no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Save page</a:t>
            </a:r>
          </a:p>
        </p:txBody>
      </p:sp>
      <p:sp>
        <p:nvSpPr>
          <p:cNvPr id="17" name="status-bg-2">
            <a:extLst>
              <a:ext uri="{FF2B5EF4-FFF2-40B4-BE49-F238E27FC236}">
                <a16:creationId xmlns:a16="http://schemas.microsoft.com/office/drawing/2014/main" id="{486C2C01-1FA5-4D02-B016-A200BB74D436}"/>
              </a:ext>
            </a:extLst>
          </p:cNvPr>
          <p:cNvSpPr>
            <a:spLocks noGrp="1"/>
          </p:cNvSpPr>
          <p:nvPr/>
        </p:nvSpPr>
        <p:spPr>
          <a:xfrm>
            <a:off x="5010150" y="4953000"/>
            <a:ext cx="1981200" cy="781050"/>
          </a:xfrm>
          <a:prstGeom prst="rect">
            <a:avLst/>
          </a:prstGeom>
          <a:solidFill>
            <a:srgbClr val="EDEDED"/>
          </a:solidFill>
          <a:ln w="0">
            <a:solidFill>
              <a:srgbClr val="EDEDED"/>
            </a:solidFill>
            <a:prstDash val="solid"/>
          </a:ln>
        </p:spPr>
      </p:sp>
      <p:sp>
        <p:nvSpPr>
          <p:cNvPr id="18" name="status-code-2">
            <a:extLst>
              <a:ext uri="{FF2B5EF4-FFF2-40B4-BE49-F238E27FC236}">
                <a16:creationId xmlns:a16="http://schemas.microsoft.com/office/drawing/2014/main" id="{0D32292D-73F1-45A0-8B7E-EB0A852D14A6}"/>
              </a:ext>
            </a:extLst>
          </p:cNvPr>
          <p:cNvSpPr>
            <a:spLocks noGrp="1"/>
          </p:cNvSpPr>
          <p:nvPr/>
        </p:nvSpPr>
        <p:spPr>
          <a:xfrm>
            <a:off x="5143500" y="5114925"/>
            <a:ext cx="590550" cy="266700"/>
          </a:xfrm>
          <a:prstGeom prst="rect">
            <a:avLst/>
          </a:prstGeom>
          <a:noFill/>
          <a:ln w="0">
            <a:noFill/>
            <a:prstDash val="solid"/>
          </a:ln>
        </p:spPr>
        <p:txBody>
          <a:bodyPr wrap="square" lIns="0" tIns="0" rIns="0" bIns="0" anchor="t">
            <a:noAutofit/>
          </a:bodyPr>
          <a:lstStyle/>
          <a:p>
            <a:pPr algn="l">
              <a:buNone/>
              <a:defRPr sz="1875" b="1" i="0">
                <a:solidFill>
                  <a:srgbClr val="5D6470"/>
                </a:solidFill>
                <a:latin typeface="Arial"/>
                <a:ea typeface="Arial"/>
                <a:cs typeface="Arial"/>
              </a:defRPr>
            </a:pPr>
            <a:r>
              <a:rPr sz="1875" b="1" i="0">
                <a:solidFill>
                  <a:srgbClr val="5D6470"/>
                </a:solidFill>
                <a:latin typeface="Arial"/>
                <a:ea typeface="Arial"/>
                <a:cs typeface="Arial"/>
              </a:rPr>
              <a:t>GET</a:t>
            </a:r>
          </a:p>
        </p:txBody>
      </p:sp>
      <p:sp>
        <p:nvSpPr>
          <p:cNvPr id="19" name="status-text-2">
            <a:extLst>
              <a:ext uri="{FF2B5EF4-FFF2-40B4-BE49-F238E27FC236}">
                <a16:creationId xmlns:a16="http://schemas.microsoft.com/office/drawing/2014/main" id="{696193E8-A56A-43C9-A1B5-8997376BF6C7}"/>
              </a:ext>
            </a:extLst>
          </p:cNvPr>
          <p:cNvSpPr>
            <a:spLocks noGrp="1"/>
          </p:cNvSpPr>
          <p:nvPr/>
        </p:nvSpPr>
        <p:spPr>
          <a:xfrm>
            <a:off x="5695950" y="5133975"/>
            <a:ext cx="1143000" cy="304800"/>
          </a:xfrm>
          <a:prstGeom prst="rect">
            <a:avLst/>
          </a:prstGeom>
          <a:noFill/>
          <a:ln w="0">
            <a:noFill/>
            <a:prstDash val="solid"/>
          </a:ln>
        </p:spPr>
        <p:txBody>
          <a:bodyPr wrap="square" lIns="0" tIns="0" rIns="0" bIns="0" anchor="t">
            <a:no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Read status</a:t>
            </a:r>
          </a:p>
        </p:txBody>
      </p:sp>
      <p:sp>
        <p:nvSpPr>
          <p:cNvPr id="20" name="status-bg-3">
            <a:extLst>
              <a:ext uri="{FF2B5EF4-FFF2-40B4-BE49-F238E27FC236}">
                <a16:creationId xmlns:a16="http://schemas.microsoft.com/office/drawing/2014/main" id="{D3274BED-74DF-4067-BE08-32DAFD615C50}"/>
              </a:ext>
            </a:extLst>
          </p:cNvPr>
          <p:cNvSpPr>
            <a:spLocks noGrp="1"/>
          </p:cNvSpPr>
          <p:nvPr/>
        </p:nvSpPr>
        <p:spPr>
          <a:xfrm>
            <a:off x="7315200" y="4953000"/>
            <a:ext cx="1981200" cy="781050"/>
          </a:xfrm>
          <a:prstGeom prst="rect">
            <a:avLst/>
          </a:prstGeom>
          <a:solidFill>
            <a:srgbClr val="FCEAEC"/>
          </a:solidFill>
          <a:ln w="0">
            <a:solidFill>
              <a:srgbClr val="FCEAEC"/>
            </a:solidFill>
            <a:prstDash val="solid"/>
          </a:ln>
        </p:spPr>
      </p:sp>
      <p:sp>
        <p:nvSpPr>
          <p:cNvPr id="21" name="status-code-3">
            <a:extLst>
              <a:ext uri="{FF2B5EF4-FFF2-40B4-BE49-F238E27FC236}">
                <a16:creationId xmlns:a16="http://schemas.microsoft.com/office/drawing/2014/main" id="{453A7AB2-4898-410E-840E-4F7784332B97}"/>
              </a:ext>
            </a:extLst>
          </p:cNvPr>
          <p:cNvSpPr>
            <a:spLocks noGrp="1"/>
          </p:cNvSpPr>
          <p:nvPr/>
        </p:nvSpPr>
        <p:spPr>
          <a:xfrm>
            <a:off x="7448550" y="5114925"/>
            <a:ext cx="590550" cy="266700"/>
          </a:xfrm>
          <a:prstGeom prst="rect">
            <a:avLst/>
          </a:prstGeom>
          <a:noFill/>
          <a:ln w="0">
            <a:noFill/>
            <a:prstDash val="solid"/>
          </a:ln>
        </p:spPr>
        <p:txBody>
          <a:bodyPr wrap="square" lIns="0" tIns="0" rIns="0" bIns="0" anchor="t">
            <a:noAutofit/>
          </a:bodyPr>
          <a:lstStyle/>
          <a:p>
            <a:pPr algn="l">
              <a:buNone/>
              <a:defRPr sz="1875" b="1" i="0">
                <a:solidFill>
                  <a:srgbClr val="C93A4B"/>
                </a:solidFill>
                <a:latin typeface="Arial"/>
                <a:ea typeface="Arial"/>
                <a:cs typeface="Arial"/>
              </a:defRPr>
            </a:pPr>
            <a:r>
              <a:rPr sz="1875" b="1" i="0">
                <a:solidFill>
                  <a:srgbClr val="C93A4B"/>
                </a:solidFill>
                <a:latin typeface="Arial"/>
                <a:ea typeface="Arial"/>
                <a:cs typeface="Arial"/>
              </a:rPr>
              <a:t>202</a:t>
            </a:r>
          </a:p>
        </p:txBody>
      </p:sp>
      <p:sp>
        <p:nvSpPr>
          <p:cNvPr id="22" name="status-text-3">
            <a:extLst>
              <a:ext uri="{FF2B5EF4-FFF2-40B4-BE49-F238E27FC236}">
                <a16:creationId xmlns:a16="http://schemas.microsoft.com/office/drawing/2014/main" id="{C3A955A0-A9FE-40AE-AD27-061328B42732}"/>
              </a:ext>
            </a:extLst>
          </p:cNvPr>
          <p:cNvSpPr>
            <a:spLocks noGrp="1"/>
          </p:cNvSpPr>
          <p:nvPr/>
        </p:nvSpPr>
        <p:spPr>
          <a:xfrm>
            <a:off x="8001000" y="5133975"/>
            <a:ext cx="1143000" cy="304800"/>
          </a:xfrm>
          <a:prstGeom prst="rect">
            <a:avLst/>
          </a:prstGeom>
          <a:noFill/>
          <a:ln w="0">
            <a:noFill/>
            <a:prstDash val="solid"/>
          </a:ln>
        </p:spPr>
        <p:txBody>
          <a:bodyPr wrap="square" lIns="0" tIns="0" rIns="0" bIns="0" anchor="t">
            <a:no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Index queued</a:t>
            </a:r>
          </a:p>
        </p:txBody>
      </p:sp>
      <p:sp>
        <p:nvSpPr>
          <p:cNvPr id="23" name="status-bg-4">
            <a:extLst>
              <a:ext uri="{FF2B5EF4-FFF2-40B4-BE49-F238E27FC236}">
                <a16:creationId xmlns:a16="http://schemas.microsoft.com/office/drawing/2014/main" id="{98BEF888-75DA-45F0-A28B-40327AAC888F}"/>
              </a:ext>
            </a:extLst>
          </p:cNvPr>
          <p:cNvSpPr>
            <a:spLocks noGrp="1"/>
          </p:cNvSpPr>
          <p:nvPr/>
        </p:nvSpPr>
        <p:spPr>
          <a:xfrm>
            <a:off x="9620250" y="4953000"/>
            <a:ext cx="1981200" cy="781050"/>
          </a:xfrm>
          <a:prstGeom prst="rect">
            <a:avLst/>
          </a:prstGeom>
          <a:solidFill>
            <a:srgbClr val="EEE8FF"/>
          </a:solidFill>
          <a:ln w="0">
            <a:solidFill>
              <a:srgbClr val="EEE8FF"/>
            </a:solidFill>
            <a:prstDash val="solid"/>
          </a:ln>
        </p:spPr>
      </p:sp>
      <p:sp>
        <p:nvSpPr>
          <p:cNvPr id="24" name="status-code-4">
            <a:extLst>
              <a:ext uri="{FF2B5EF4-FFF2-40B4-BE49-F238E27FC236}">
                <a16:creationId xmlns:a16="http://schemas.microsoft.com/office/drawing/2014/main" id="{486DB513-F4A0-4673-8D6C-CD4DBC57A0BC}"/>
              </a:ext>
            </a:extLst>
          </p:cNvPr>
          <p:cNvSpPr>
            <a:spLocks noGrp="1"/>
          </p:cNvSpPr>
          <p:nvPr/>
        </p:nvSpPr>
        <p:spPr>
          <a:xfrm>
            <a:off x="9753600" y="5114925"/>
            <a:ext cx="590550" cy="266700"/>
          </a:xfrm>
          <a:prstGeom prst="rect">
            <a:avLst/>
          </a:prstGeom>
          <a:noFill/>
          <a:ln w="0">
            <a:noFill/>
            <a:prstDash val="solid"/>
          </a:ln>
        </p:spPr>
        <p:txBody>
          <a:bodyPr wrap="square" lIns="0" tIns="0" rIns="0" bIns="0" anchor="t">
            <a:noAutofit/>
          </a:bodyPr>
          <a:lstStyle/>
          <a:p>
            <a:pPr algn="l">
              <a:buNone/>
              <a:defRPr sz="1875" b="1" i="0">
                <a:solidFill>
                  <a:srgbClr val="5A36B5"/>
                </a:solidFill>
                <a:latin typeface="Arial"/>
                <a:ea typeface="Arial"/>
                <a:cs typeface="Arial"/>
              </a:defRPr>
            </a:pPr>
            <a:r>
              <a:rPr sz="1875" b="1" i="0">
                <a:solidFill>
                  <a:srgbClr val="5A36B5"/>
                </a:solidFill>
                <a:latin typeface="Arial"/>
                <a:ea typeface="Arial"/>
                <a:cs typeface="Arial"/>
              </a:rPr>
              <a:t>ERR</a:t>
            </a:r>
          </a:p>
        </p:txBody>
      </p:sp>
      <p:sp>
        <p:nvSpPr>
          <p:cNvPr id="25" name="status-text-4">
            <a:extLst>
              <a:ext uri="{FF2B5EF4-FFF2-40B4-BE49-F238E27FC236}">
                <a16:creationId xmlns:a16="http://schemas.microsoft.com/office/drawing/2014/main" id="{048CD30C-8805-4BA9-889E-1D7A21059A6A}"/>
              </a:ext>
            </a:extLst>
          </p:cNvPr>
          <p:cNvSpPr>
            <a:spLocks noGrp="1"/>
          </p:cNvSpPr>
          <p:nvPr/>
        </p:nvSpPr>
        <p:spPr>
          <a:xfrm>
            <a:off x="10306050" y="5133975"/>
            <a:ext cx="1143000" cy="304800"/>
          </a:xfrm>
          <a:prstGeom prst="rect">
            <a:avLst/>
          </a:prstGeom>
          <a:noFill/>
          <a:ln w="0">
            <a:noFill/>
            <a:prstDash val="solid"/>
          </a:ln>
        </p:spPr>
        <p:txBody>
          <a:bodyPr wrap="square" lIns="0" tIns="0" rIns="0" bIns="0" anchor="t">
            <a:no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Retry index</a:t>
            </a:r>
          </a:p>
        </p:txBody>
      </p:sp>
    </p:spTree>
    <p:extLst>
      <p:ext uri="{BB962C8B-B14F-4D97-AF65-F5344CB8AC3E}">
        <p14:creationId xmlns:p14="http://schemas.microsoft.com/office/powerpoint/2010/main" val="1267742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eyebrow-8">
            <a:extLst>
              <a:ext uri="{FF2B5EF4-FFF2-40B4-BE49-F238E27FC236}">
                <a16:creationId xmlns:a16="http://schemas.microsoft.com/office/drawing/2014/main" id="{A41521E9-E091-48B3-A226-31624CCE9820}"/>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8">
            <a:extLst>
              <a:ext uri="{FF2B5EF4-FFF2-40B4-BE49-F238E27FC236}">
                <a16:creationId xmlns:a16="http://schemas.microsoft.com/office/drawing/2014/main" id="{786DA84C-CEAD-42D4-82ED-EB8438A285F5}"/>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Six scenarios define acceptable RAG behavior</a:t>
            </a:r>
          </a:p>
        </p:txBody>
      </p:sp>
      <p:sp>
        <p:nvSpPr>
          <p:cNvPr id="3" name="title-rule-8">
            <a:extLst>
              <a:ext uri="{FF2B5EF4-FFF2-40B4-BE49-F238E27FC236}">
                <a16:creationId xmlns:a16="http://schemas.microsoft.com/office/drawing/2014/main" id="{E730C801-1E5A-468F-8A4B-6252C5F1A0F1}"/>
              </a:ext>
            </a:extLst>
          </p:cNvPr>
          <p:cNvSpPr>
            <a:spLocks noGrp="1"/>
          </p:cNvSpPr>
          <p:nvPr/>
        </p:nvSpPr>
        <p:spPr>
          <a:xfrm>
            <a:off x="400050" y="1362075"/>
            <a:ext cx="11391900" cy="9525"/>
          </a:xfrm>
          <a:prstGeom prst="rect">
            <a:avLst/>
          </a:prstGeom>
          <a:solidFill>
            <a:srgbClr val="B8BCC4"/>
          </a:solidFill>
          <a:ln w="0">
            <a:solidFill>
              <a:srgbClr val="B8BCC4"/>
            </a:solidFill>
            <a:prstDash val="solid"/>
          </a:ln>
        </p:spPr>
      </p:sp>
      <p:sp>
        <p:nvSpPr>
          <p:cNvPr id="4" name="slide-number-8">
            <a:extLst>
              <a:ext uri="{FF2B5EF4-FFF2-40B4-BE49-F238E27FC236}">
                <a16:creationId xmlns:a16="http://schemas.microsoft.com/office/drawing/2014/main" id="{BFA2186B-2649-4C12-80D2-E62101C7AEFD}"/>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08</a:t>
            </a:r>
          </a:p>
        </p:txBody>
      </p:sp>
      <p:sp>
        <p:nvSpPr>
          <p:cNvPr id="5" name="tests-intro">
            <a:extLst>
              <a:ext uri="{FF2B5EF4-FFF2-40B4-BE49-F238E27FC236}">
                <a16:creationId xmlns:a16="http://schemas.microsoft.com/office/drawing/2014/main" id="{87B8A662-99C1-4261-8BA2-E0A463A008C3}"/>
              </a:ext>
            </a:extLst>
          </p:cNvPr>
          <p:cNvSpPr>
            <a:spLocks noGrp="1"/>
          </p:cNvSpPr>
          <p:nvPr/>
        </p:nvSpPr>
        <p:spPr>
          <a:xfrm>
            <a:off x="400050" y="1581150"/>
            <a:ext cx="10477500" cy="304800"/>
          </a:xfrm>
          <a:prstGeom prst="rect">
            <a:avLst/>
          </a:prstGeom>
          <a:noFill/>
          <a:ln w="0">
            <a:noFill/>
            <a:prstDash val="solid"/>
          </a:ln>
        </p:spPr>
        <p:txBody>
          <a:bodyPr wrap="square" lIns="0" tIns="0" rIns="0" bIns="0" anchor="t">
            <a:noAutofit/>
          </a:bodyPr>
          <a:lstStyle/>
          <a:p>
            <a:pPr algn="l">
              <a:buNone/>
              <a:defRPr sz="1575" b="0" i="1">
                <a:solidFill>
                  <a:srgbClr val="5D6470"/>
                </a:solidFill>
                <a:latin typeface="Arial"/>
                <a:ea typeface="Arial"/>
                <a:cs typeface="Arial"/>
              </a:defRPr>
            </a:pPr>
            <a:r>
              <a:rPr sz="1575" b="0" i="1">
                <a:solidFill>
                  <a:srgbClr val="5D6470"/>
                </a:solidFill>
                <a:latin typeface="Arial"/>
                <a:ea typeface="Arial"/>
                <a:cs typeface="Arial"/>
              </a:rPr>
              <a:t>These are acceptance scenarios from the Workshop 4 artifact—not independently verified pass results.</a:t>
            </a:r>
          </a:p>
        </p:txBody>
      </p:sp>
      <p:graphicFrame>
        <p:nvGraphicFramePr>
          <p:cNvPr id="14" name="Table 13"/>
          <p:cNvGraphicFramePr/>
          <p:nvPr/>
        </p:nvGraphicFramePr>
        <p:xfrm>
          <a:off x="400050" y="2095500"/>
          <a:ext cx="11391900" cy="3810000"/>
        </p:xfrm>
        <a:graphic>
          <a:graphicData uri="http://schemas.openxmlformats.org/drawingml/2006/table">
            <a:tbl>
              <a:tblPr/>
              <a:tblGrid>
                <a:gridCol w="10477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6915150">
                  <a:extLst>
                    <a:ext uri="{9D8B030D-6E8A-4147-A177-3AD203B41FA5}">
                      <a16:colId xmlns:a16="http://schemas.microsoft.com/office/drawing/2014/main" val="20002"/>
                    </a:ext>
                  </a:extLst>
                </a:gridCol>
              </a:tblGrid>
              <a:tr h="544286">
                <a:tc>
                  <a:txBody>
                    <a:bodyPr/>
                    <a:lstStyle/>
                    <a:p>
                      <a:r>
                        <a:rPr sz="1350" b="1">
                          <a:solidFill>
                            <a:srgbClr val="FFFFFF"/>
                          </a:solidFill>
                        </a:rPr>
                        <a:t>ID</a:t>
                      </a:r>
                    </a:p>
                  </a:txBody>
                  <a:tcPr marL="95250" marR="95250" marT="76200" marB="76200" anchor="ctr">
                    <a:solidFill>
                      <a:srgbClr val="111111"/>
                    </a:solidFill>
                  </a:tcPr>
                </a:tc>
                <a:tc>
                  <a:txBody>
                    <a:bodyPr/>
                    <a:lstStyle/>
                    <a:p>
                      <a:r>
                        <a:rPr sz="1350" b="1">
                          <a:solidFill>
                            <a:srgbClr val="FFFFFF"/>
                          </a:solidFill>
                        </a:rPr>
                        <a:t>Scenario</a:t>
                      </a:r>
                    </a:p>
                  </a:txBody>
                  <a:tcPr marL="95250" marR="95250" marT="76200" marB="76200" anchor="ctr">
                    <a:solidFill>
                      <a:srgbClr val="111111"/>
                    </a:solidFill>
                  </a:tcPr>
                </a:tc>
                <a:tc>
                  <a:txBody>
                    <a:bodyPr/>
                    <a:lstStyle/>
                    <a:p>
                      <a:r>
                        <a:rPr sz="1350" b="1">
                          <a:solidFill>
                            <a:srgbClr val="FFFFFF"/>
                          </a:solidFill>
                        </a:rPr>
                        <a:t>Expected behavior</a:t>
                      </a:r>
                    </a:p>
                  </a:txBody>
                  <a:tcPr marL="95250" marR="95250" marT="76200" marB="76200" anchor="ctr">
                    <a:solidFill>
                      <a:srgbClr val="111111"/>
                    </a:solidFill>
                  </a:tcPr>
                </a:tc>
                <a:extLst>
                  <a:ext uri="{0D108BD9-81ED-4DB2-BD59-A6C34878D82A}">
                    <a16:rowId xmlns:a16="http://schemas.microsoft.com/office/drawing/2014/main" val="10000"/>
                  </a:ext>
                </a:extLst>
              </a:tr>
              <a:tr h="544286">
                <a:tc>
                  <a:txBody>
                    <a:bodyPr/>
                    <a:lstStyle/>
                    <a:p>
                      <a:r>
                        <a:rPr sz="1275">
                          <a:solidFill>
                            <a:srgbClr val="111111"/>
                          </a:solidFill>
                        </a:rPr>
                        <a:t>TC_01</a:t>
                      </a:r>
                    </a:p>
                  </a:txBody>
                  <a:tcPr marL="95250" marR="95250" marT="76200" marB="76200" anchor="ctr">
                    <a:solidFill>
                      <a:srgbClr val="F6F6F7"/>
                    </a:solidFill>
                  </a:tcPr>
                </a:tc>
                <a:tc>
                  <a:txBody>
                    <a:bodyPr/>
                    <a:lstStyle/>
                    <a:p>
                      <a:r>
                        <a:rPr sz="1275">
                          <a:solidFill>
                            <a:srgbClr val="111111"/>
                          </a:solidFill>
                        </a:rPr>
                        <a:t>Project pages</a:t>
                      </a:r>
                    </a:p>
                  </a:txBody>
                  <a:tcPr marL="95250" marR="95250" marT="76200" marB="76200" anchor="ctr">
                    <a:solidFill>
                      <a:srgbClr val="F6F6F7"/>
                    </a:solidFill>
                  </a:tcPr>
                </a:tc>
                <a:tc>
                  <a:txBody>
                    <a:bodyPr/>
                    <a:lstStyle/>
                    <a:p>
                      <a:r>
                        <a:rPr sz="1275">
                          <a:solidFill>
                            <a:srgbClr val="111111"/>
                          </a:solidFill>
                        </a:rPr>
                        <a:t>Text and image blocks can be created, edited, ordered, and deleted</a:t>
                      </a:r>
                    </a:p>
                  </a:txBody>
                  <a:tcPr marL="95250" marR="95250" marT="76200" marB="76200" anchor="ctr">
                    <a:solidFill>
                      <a:srgbClr val="F6F6F7"/>
                    </a:solidFill>
                  </a:tcPr>
                </a:tc>
                <a:extLst>
                  <a:ext uri="{0D108BD9-81ED-4DB2-BD59-A6C34878D82A}">
                    <a16:rowId xmlns:a16="http://schemas.microsoft.com/office/drawing/2014/main" val="10001"/>
                  </a:ext>
                </a:extLst>
              </a:tr>
              <a:tr h="544286">
                <a:tc>
                  <a:txBody>
                    <a:bodyPr/>
                    <a:lstStyle/>
                    <a:p>
                      <a:r>
                        <a:rPr sz="1275">
                          <a:solidFill>
                            <a:srgbClr val="111111"/>
                          </a:solidFill>
                        </a:rPr>
                        <a:t>TC_02</a:t>
                      </a:r>
                    </a:p>
                  </a:txBody>
                  <a:tcPr marL="95250" marR="95250" marT="76200" marB="76200" anchor="ctr">
                    <a:solidFill>
                      <a:srgbClr val="EAF5FB"/>
                    </a:solidFill>
                  </a:tcPr>
                </a:tc>
                <a:tc>
                  <a:txBody>
                    <a:bodyPr/>
                    <a:lstStyle/>
                    <a:p>
                      <a:r>
                        <a:rPr sz="1275">
                          <a:solidFill>
                            <a:srgbClr val="111111"/>
                          </a:solidFill>
                        </a:rPr>
                        <a:t>Build RAG</a:t>
                      </a:r>
                    </a:p>
                  </a:txBody>
                  <a:tcPr marL="95250" marR="95250" marT="76200" marB="76200" anchor="ctr">
                    <a:solidFill>
                      <a:srgbClr val="EAF5FB"/>
                    </a:solidFill>
                  </a:tcPr>
                </a:tc>
                <a:tc>
                  <a:txBody>
                    <a:bodyPr/>
                    <a:lstStyle/>
                    <a:p>
                      <a:r>
                        <a:rPr sz="1275">
                          <a:solidFill>
                            <a:srgbClr val="111111"/>
                          </a:solidFill>
                        </a:rPr>
                        <a:t>Section reaches ready and stores vector(384) chunks</a:t>
                      </a:r>
                    </a:p>
                  </a:txBody>
                  <a:tcPr marL="95250" marR="95250" marT="76200" marB="76200" anchor="ctr">
                    <a:solidFill>
                      <a:srgbClr val="EAF5FB"/>
                    </a:solidFill>
                  </a:tcPr>
                </a:tc>
                <a:extLst>
                  <a:ext uri="{0D108BD9-81ED-4DB2-BD59-A6C34878D82A}">
                    <a16:rowId xmlns:a16="http://schemas.microsoft.com/office/drawing/2014/main" val="10002"/>
                  </a:ext>
                </a:extLst>
              </a:tr>
              <a:tr h="544286">
                <a:tc>
                  <a:txBody>
                    <a:bodyPr/>
                    <a:lstStyle/>
                    <a:p>
                      <a:r>
                        <a:rPr sz="1275">
                          <a:solidFill>
                            <a:srgbClr val="111111"/>
                          </a:solidFill>
                        </a:rPr>
                        <a:t>TC_03</a:t>
                      </a:r>
                    </a:p>
                  </a:txBody>
                  <a:tcPr marL="95250" marR="95250" marT="76200" marB="76200" anchor="ctr">
                    <a:solidFill>
                      <a:srgbClr val="F6F6F7"/>
                    </a:solidFill>
                  </a:tcPr>
                </a:tc>
                <a:tc>
                  <a:txBody>
                    <a:bodyPr/>
                    <a:lstStyle/>
                    <a:p>
                      <a:r>
                        <a:rPr sz="1275">
                          <a:solidFill>
                            <a:srgbClr val="111111"/>
                          </a:solidFill>
                        </a:rPr>
                        <a:t>Diagram</a:t>
                      </a:r>
                    </a:p>
                  </a:txBody>
                  <a:tcPr marL="95250" marR="95250" marT="76200" marB="76200" anchor="ctr">
                    <a:solidFill>
                      <a:srgbClr val="F6F6F7"/>
                    </a:solidFill>
                  </a:tcPr>
                </a:tc>
                <a:tc>
                  <a:txBody>
                    <a:bodyPr/>
                    <a:lstStyle/>
                    <a:p>
                      <a:r>
                        <a:rPr sz="1275">
                          <a:solidFill>
                            <a:srgbClr val="111111"/>
                          </a:solidFill>
                        </a:rPr>
                        <a:t>English extraction captures nodes, arrows, events, and relationships</a:t>
                      </a:r>
                    </a:p>
                  </a:txBody>
                  <a:tcPr marL="95250" marR="95250" marT="76200" marB="76200" anchor="ctr">
                    <a:solidFill>
                      <a:srgbClr val="F6F6F7"/>
                    </a:solidFill>
                  </a:tcPr>
                </a:tc>
                <a:extLst>
                  <a:ext uri="{0D108BD9-81ED-4DB2-BD59-A6C34878D82A}">
                    <a16:rowId xmlns:a16="http://schemas.microsoft.com/office/drawing/2014/main" val="10003"/>
                  </a:ext>
                </a:extLst>
              </a:tr>
              <a:tr h="544286">
                <a:tc>
                  <a:txBody>
                    <a:bodyPr/>
                    <a:lstStyle/>
                    <a:p>
                      <a:r>
                        <a:rPr sz="1275">
                          <a:solidFill>
                            <a:srgbClr val="111111"/>
                          </a:solidFill>
                        </a:rPr>
                        <a:t>TC_04</a:t>
                      </a:r>
                    </a:p>
                  </a:txBody>
                  <a:tcPr marL="95250" marR="95250" marT="76200" marB="76200" anchor="ctr">
                    <a:solidFill>
                      <a:srgbClr val="EAF5FB"/>
                    </a:solidFill>
                  </a:tcPr>
                </a:tc>
                <a:tc>
                  <a:txBody>
                    <a:bodyPr/>
                    <a:lstStyle/>
                    <a:p>
                      <a:r>
                        <a:rPr sz="1275">
                          <a:solidFill>
                            <a:srgbClr val="111111"/>
                          </a:solidFill>
                        </a:rPr>
                        <a:t>No project</a:t>
                      </a:r>
                    </a:p>
                  </a:txBody>
                  <a:tcPr marL="95250" marR="95250" marT="76200" marB="76200" anchor="ctr">
                    <a:solidFill>
                      <a:srgbClr val="EAF5FB"/>
                    </a:solidFill>
                  </a:tcPr>
                </a:tc>
                <a:tc>
                  <a:txBody>
                    <a:bodyPr/>
                    <a:lstStyle/>
                    <a:p>
                      <a:r>
                        <a:rPr sz="1275">
                          <a:solidFill>
                            <a:srgbClr val="111111"/>
                          </a:solidFill>
                        </a:rPr>
                        <a:t>Interview keeps exactly N general questions</a:t>
                      </a:r>
                    </a:p>
                  </a:txBody>
                  <a:tcPr marL="95250" marR="95250" marT="76200" marB="76200" anchor="ctr">
                    <a:solidFill>
                      <a:srgbClr val="EAF5FB"/>
                    </a:solidFill>
                  </a:tcPr>
                </a:tc>
                <a:extLst>
                  <a:ext uri="{0D108BD9-81ED-4DB2-BD59-A6C34878D82A}">
                    <a16:rowId xmlns:a16="http://schemas.microsoft.com/office/drawing/2014/main" val="10004"/>
                  </a:ext>
                </a:extLst>
              </a:tr>
              <a:tr h="544286">
                <a:tc>
                  <a:txBody>
                    <a:bodyPr/>
                    <a:lstStyle/>
                    <a:p>
                      <a:r>
                        <a:rPr sz="1275">
                          <a:solidFill>
                            <a:srgbClr val="111111"/>
                          </a:solidFill>
                        </a:rPr>
                        <a:t>TC_05</a:t>
                      </a:r>
                    </a:p>
                  </a:txBody>
                  <a:tcPr marL="95250" marR="95250" marT="76200" marB="76200" anchor="ctr">
                    <a:solidFill>
                      <a:srgbClr val="F6F6F7"/>
                    </a:solidFill>
                  </a:tcPr>
                </a:tc>
                <a:tc>
                  <a:txBody>
                    <a:bodyPr/>
                    <a:lstStyle/>
                    <a:p>
                      <a:r>
                        <a:rPr sz="1275">
                          <a:solidFill>
                            <a:srgbClr val="111111"/>
                          </a:solidFill>
                        </a:rPr>
                        <a:t>Ready project</a:t>
                      </a:r>
                    </a:p>
                  </a:txBody>
                  <a:tcPr marL="95250" marR="95250" marT="76200" marB="76200" anchor="ctr">
                    <a:solidFill>
                      <a:srgbClr val="F6F6F7"/>
                    </a:solidFill>
                  </a:tcPr>
                </a:tc>
                <a:tc>
                  <a:txBody>
                    <a:bodyPr/>
                    <a:lstStyle/>
                    <a:p>
                      <a:r>
                        <a:rPr sz="1275">
                          <a:solidFill>
                            <a:srgbClr val="111111"/>
                          </a:solidFill>
                        </a:rPr>
                        <a:t>One grounded project question appears last; total is N + 1</a:t>
                      </a:r>
                    </a:p>
                  </a:txBody>
                  <a:tcPr marL="95250" marR="95250" marT="76200" marB="76200" anchor="ctr">
                    <a:solidFill>
                      <a:srgbClr val="F6F6F7"/>
                    </a:solidFill>
                  </a:tcPr>
                </a:tc>
                <a:extLst>
                  <a:ext uri="{0D108BD9-81ED-4DB2-BD59-A6C34878D82A}">
                    <a16:rowId xmlns:a16="http://schemas.microsoft.com/office/drawing/2014/main" val="10005"/>
                  </a:ext>
                </a:extLst>
              </a:tr>
              <a:tr h="544286">
                <a:tc>
                  <a:txBody>
                    <a:bodyPr/>
                    <a:lstStyle/>
                    <a:p>
                      <a:r>
                        <a:rPr sz="1275">
                          <a:solidFill>
                            <a:srgbClr val="111111"/>
                          </a:solidFill>
                        </a:rPr>
                        <a:t>TC_06</a:t>
                      </a:r>
                    </a:p>
                  </a:txBody>
                  <a:tcPr marL="95250" marR="95250" marT="76200" marB="76200" anchor="ctr">
                    <a:solidFill>
                      <a:srgbClr val="EAF5FB"/>
                    </a:solidFill>
                  </a:tcPr>
                </a:tc>
                <a:tc>
                  <a:txBody>
                    <a:bodyPr/>
                    <a:lstStyle/>
                    <a:p>
                      <a:r>
                        <a:rPr sz="1275">
                          <a:solidFill>
                            <a:srgbClr val="111111"/>
                          </a:solidFill>
                        </a:rPr>
                        <a:t>Failure / restart</a:t>
                      </a:r>
                    </a:p>
                  </a:txBody>
                  <a:tcPr marL="95250" marR="95250" marT="76200" marB="76200" anchor="ctr">
                    <a:solidFill>
                      <a:srgbClr val="EAF5FB"/>
                    </a:solidFill>
                  </a:tcPr>
                </a:tc>
                <a:tc>
                  <a:txBody>
                    <a:bodyPr/>
                    <a:lstStyle/>
                    <a:p>
                      <a:r>
                        <a:rPr sz="1275">
                          <a:solidFill>
                            <a:srgbClr val="111111"/>
                          </a:solidFill>
                        </a:rPr>
                        <a:t>Fallback question remains usable; indexing can be retried</a:t>
                      </a:r>
                    </a:p>
                  </a:txBody>
                  <a:tcPr marL="95250" marR="95250" marT="76200" marB="76200" anchor="ctr">
                    <a:solidFill>
                      <a:srgbClr val="EAF5FB"/>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4080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eyebrow-9">
            <a:extLst>
              <a:ext uri="{FF2B5EF4-FFF2-40B4-BE49-F238E27FC236}">
                <a16:creationId xmlns:a16="http://schemas.microsoft.com/office/drawing/2014/main" id="{1F25A55C-A5AF-4E48-B165-C1CBD67F3D23}"/>
              </a:ext>
            </a:extLst>
          </p:cNvPr>
          <p:cNvSpPr>
            <a:spLocks noGrp="1"/>
          </p:cNvSpPr>
          <p:nvPr/>
        </p:nvSpPr>
        <p:spPr>
          <a:xfrm>
            <a:off x="400050" y="266700"/>
            <a:ext cx="7239000" cy="209550"/>
          </a:xfrm>
          <a:prstGeom prst="rect">
            <a:avLst/>
          </a:prstGeom>
          <a:noFill/>
          <a:ln w="0">
            <a:noFill/>
            <a:prstDash val="solid"/>
          </a:ln>
        </p:spPr>
        <p:txBody>
          <a:bodyPr wrap="square" lIns="0" tIns="0" rIns="0" bIns="0" anchor="t">
            <a:noAutofit/>
          </a:bodyPr>
          <a:lstStyle/>
          <a:p>
            <a:pPr algn="l">
              <a:buNone/>
              <a:defRPr sz="1125" b="1" i="0">
                <a:solidFill>
                  <a:srgbClr val="5A36B5"/>
                </a:solidFill>
                <a:latin typeface="Arial"/>
                <a:ea typeface="Arial"/>
                <a:cs typeface="Arial"/>
              </a:defRPr>
            </a:pPr>
            <a:r>
              <a:rPr sz="1125" b="1" i="0">
                <a:solidFill>
                  <a:srgbClr val="5A36B5"/>
                </a:solidFill>
                <a:latin typeface="Arial"/>
                <a:ea typeface="Arial"/>
                <a:cs typeface="Arial"/>
              </a:rPr>
              <a:t>WORKSHOP 4 · PROJECT KNOWLEDGE WITH RAG</a:t>
            </a:r>
          </a:p>
        </p:txBody>
      </p:sp>
      <p:sp>
        <p:nvSpPr>
          <p:cNvPr id="2" name="title-9">
            <a:extLst>
              <a:ext uri="{FF2B5EF4-FFF2-40B4-BE49-F238E27FC236}">
                <a16:creationId xmlns:a16="http://schemas.microsoft.com/office/drawing/2014/main" id="{A3ACE191-9C63-40B7-8FE1-F9E7EDDFA654}"/>
              </a:ext>
            </a:extLst>
          </p:cNvPr>
          <p:cNvSpPr>
            <a:spLocks noGrp="1"/>
          </p:cNvSpPr>
          <p:nvPr/>
        </p:nvSpPr>
        <p:spPr>
          <a:xfrm>
            <a:off x="400050" y="590550"/>
            <a:ext cx="11144250" cy="647700"/>
          </a:xfrm>
          <a:prstGeom prst="rect">
            <a:avLst/>
          </a:prstGeom>
          <a:noFill/>
          <a:ln w="0">
            <a:noFill/>
            <a:prstDash val="solid"/>
          </a:ln>
        </p:spPr>
        <p:txBody>
          <a:bodyPr wrap="square" lIns="0" tIns="0" rIns="0" bIns="0" anchor="ctr">
            <a:noAutofit/>
          </a:bodyPr>
          <a:lstStyle/>
          <a:p>
            <a:pPr algn="l">
              <a:buNone/>
              <a:defRPr sz="3450" b="1" i="0">
                <a:solidFill>
                  <a:srgbClr val="111111"/>
                </a:solidFill>
                <a:latin typeface="Arial"/>
                <a:ea typeface="Arial"/>
                <a:cs typeface="Arial"/>
              </a:defRPr>
            </a:pPr>
            <a:r>
              <a:rPr sz="3450" b="1" i="0">
                <a:solidFill>
                  <a:srgbClr val="111111"/>
                </a:solidFill>
                <a:latin typeface="Arial"/>
                <a:ea typeface="Arial"/>
                <a:cs typeface="Arial"/>
              </a:rPr>
              <a:t>Index state narrows failures before interview debugging</a:t>
            </a:r>
          </a:p>
        </p:txBody>
      </p:sp>
      <p:sp>
        <p:nvSpPr>
          <p:cNvPr id="3" name="title-rule-9">
            <a:extLst>
              <a:ext uri="{FF2B5EF4-FFF2-40B4-BE49-F238E27FC236}">
                <a16:creationId xmlns:a16="http://schemas.microsoft.com/office/drawing/2014/main" id="{659DA67E-3CE5-4228-9377-89110FE90638}"/>
              </a:ext>
            </a:extLst>
          </p:cNvPr>
          <p:cNvSpPr>
            <a:spLocks noGrp="1"/>
          </p:cNvSpPr>
          <p:nvPr/>
        </p:nvSpPr>
        <p:spPr>
          <a:xfrm>
            <a:off x="346388" y="1501596"/>
            <a:ext cx="11391900" cy="9525"/>
          </a:xfrm>
          <a:prstGeom prst="rect">
            <a:avLst/>
          </a:prstGeom>
          <a:solidFill>
            <a:srgbClr val="B8BCC4"/>
          </a:solidFill>
          <a:ln w="0">
            <a:solidFill>
              <a:srgbClr val="B8BCC4"/>
            </a:solidFill>
            <a:prstDash val="solid"/>
          </a:ln>
        </p:spPr>
      </p:sp>
      <p:sp>
        <p:nvSpPr>
          <p:cNvPr id="4" name="slide-number-9">
            <a:extLst>
              <a:ext uri="{FF2B5EF4-FFF2-40B4-BE49-F238E27FC236}">
                <a16:creationId xmlns:a16="http://schemas.microsoft.com/office/drawing/2014/main" id="{084D884F-988D-463E-B53E-E886B33F6035}"/>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09</a:t>
            </a:r>
          </a:p>
        </p:txBody>
      </p:sp>
      <p:sp>
        <p:nvSpPr>
          <p:cNvPr id="5" name="error-503">
            <a:extLst>
              <a:ext uri="{FF2B5EF4-FFF2-40B4-BE49-F238E27FC236}">
                <a16:creationId xmlns:a16="http://schemas.microsoft.com/office/drawing/2014/main" id="{C6014E47-45B2-4322-B95B-1FEE83F32695}"/>
              </a:ext>
            </a:extLst>
          </p:cNvPr>
          <p:cNvSpPr>
            <a:spLocks noGrp="1"/>
          </p:cNvSpPr>
          <p:nvPr/>
        </p:nvSpPr>
        <p:spPr>
          <a:xfrm>
            <a:off x="400050" y="1857375"/>
            <a:ext cx="2190750" cy="1104900"/>
          </a:xfrm>
          <a:prstGeom prst="rect">
            <a:avLst/>
          </a:prstGeom>
          <a:noFill/>
          <a:ln w="0">
            <a:noFill/>
            <a:prstDash val="solid"/>
          </a:ln>
        </p:spPr>
        <p:txBody>
          <a:bodyPr wrap="square" lIns="0" tIns="0" rIns="0" bIns="0" anchor="t">
            <a:noAutofit/>
          </a:bodyPr>
          <a:lstStyle/>
          <a:p>
            <a:pPr algn="l">
              <a:buNone/>
              <a:defRPr sz="6900" b="1" i="0">
                <a:solidFill>
                  <a:srgbClr val="5A36B5"/>
                </a:solidFill>
                <a:latin typeface="Arial"/>
                <a:ea typeface="Arial"/>
                <a:cs typeface="Arial"/>
              </a:defRPr>
            </a:pPr>
            <a:r>
              <a:rPr sz="6900" b="1" i="0">
                <a:solidFill>
                  <a:srgbClr val="5A36B5"/>
                </a:solidFill>
                <a:latin typeface="Arial"/>
                <a:ea typeface="Arial"/>
                <a:cs typeface="Arial"/>
              </a:rPr>
              <a:t>RAG</a:t>
            </a:r>
          </a:p>
        </p:txBody>
      </p:sp>
      <p:sp>
        <p:nvSpPr>
          <p:cNvPr id="6" name="error-label">
            <a:extLst>
              <a:ext uri="{FF2B5EF4-FFF2-40B4-BE49-F238E27FC236}">
                <a16:creationId xmlns:a16="http://schemas.microsoft.com/office/drawing/2014/main" id="{1CCFD412-45FB-4EF2-80A3-31A06C1B87A7}"/>
              </a:ext>
            </a:extLst>
          </p:cNvPr>
          <p:cNvSpPr>
            <a:spLocks noGrp="1"/>
          </p:cNvSpPr>
          <p:nvPr/>
        </p:nvSpPr>
        <p:spPr>
          <a:xfrm>
            <a:off x="400050" y="3028950"/>
            <a:ext cx="2476500" cy="285750"/>
          </a:xfrm>
          <a:prstGeom prst="rect">
            <a:avLst/>
          </a:prstGeom>
          <a:noFill/>
          <a:ln w="0">
            <a:noFill/>
            <a:prstDash val="solid"/>
          </a:ln>
        </p:spPr>
        <p:txBody>
          <a:bodyPr wrap="square" lIns="0" tIns="0" rIns="0" bIns="0" anchor="t">
            <a:noAutofit/>
          </a:bodyPr>
          <a:lstStyle/>
          <a:p>
            <a:pPr algn="l">
              <a:buNone/>
              <a:defRPr sz="1425" b="1" i="0">
                <a:solidFill>
                  <a:srgbClr val="5A36B5"/>
                </a:solidFill>
                <a:latin typeface="Arial"/>
                <a:ea typeface="Arial"/>
                <a:cs typeface="Arial"/>
              </a:defRPr>
            </a:pPr>
            <a:r>
              <a:rPr sz="1425" b="1" i="0">
                <a:solidFill>
                  <a:srgbClr val="5A36B5"/>
                </a:solidFill>
                <a:latin typeface="Arial"/>
                <a:ea typeface="Arial"/>
                <a:cs typeface="Arial"/>
              </a:rPr>
              <a:t>INDEX NOT READY</a:t>
            </a:r>
          </a:p>
        </p:txBody>
      </p:sp>
      <p:sp>
        <p:nvSpPr>
          <p:cNvPr id="7" name="error-detail">
            <a:extLst>
              <a:ext uri="{FF2B5EF4-FFF2-40B4-BE49-F238E27FC236}">
                <a16:creationId xmlns:a16="http://schemas.microsoft.com/office/drawing/2014/main" id="{E4D89036-E641-462A-8A92-F630ED6933ED}"/>
              </a:ext>
            </a:extLst>
          </p:cNvPr>
          <p:cNvSpPr>
            <a:spLocks noGrp="1"/>
          </p:cNvSpPr>
          <p:nvPr/>
        </p:nvSpPr>
        <p:spPr>
          <a:xfrm>
            <a:off x="400050" y="3600450"/>
            <a:ext cx="2857500" cy="1200150"/>
          </a:xfrm>
          <a:prstGeom prst="rect">
            <a:avLst/>
          </a:prstGeom>
          <a:noFill/>
          <a:ln w="0">
            <a:noFill/>
            <a:prstDash val="solid"/>
          </a:ln>
        </p:spPr>
        <p:txBody>
          <a:bodyPr wrap="square" lIns="0" tIns="0" rIns="0" bIns="0" anchor="t">
            <a:noAutofit/>
          </a:bodyPr>
          <a:lstStyle/>
          <a:p>
            <a:pPr algn="l">
              <a:buNone/>
              <a:defRPr sz="1875" b="0" i="0">
                <a:solidFill>
                  <a:srgbClr val="111111"/>
                </a:solidFill>
                <a:latin typeface="Arial"/>
                <a:ea typeface="Arial"/>
                <a:cs typeface="Arial"/>
              </a:defRPr>
            </a:pPr>
            <a:r>
              <a:rPr sz="1875" b="0" i="0">
                <a:solidFill>
                  <a:srgbClr val="111111"/>
                </a:solidFill>
                <a:latin typeface="Arial"/>
                <a:ea typeface="Arial"/>
                <a:cs typeface="Arial"/>
              </a:rPr>
              <a:t>A project question can only be grounded when chunks have extracted text and vector(384) embeddings.</a:t>
            </a:r>
          </a:p>
        </p:txBody>
      </p:sp>
      <p:sp>
        <p:nvSpPr>
          <p:cNvPr id="8" name="error-vrule">
            <a:extLst>
              <a:ext uri="{FF2B5EF4-FFF2-40B4-BE49-F238E27FC236}">
                <a16:creationId xmlns:a16="http://schemas.microsoft.com/office/drawing/2014/main" id="{9C78D025-E1ED-4BB5-A52D-A1A98931BC1D}"/>
              </a:ext>
            </a:extLst>
          </p:cNvPr>
          <p:cNvSpPr>
            <a:spLocks noGrp="1"/>
          </p:cNvSpPr>
          <p:nvPr/>
        </p:nvSpPr>
        <p:spPr>
          <a:xfrm>
            <a:off x="3581400" y="1828800"/>
            <a:ext cx="9525" cy="3886200"/>
          </a:xfrm>
          <a:prstGeom prst="rect">
            <a:avLst/>
          </a:prstGeom>
          <a:solidFill>
            <a:srgbClr val="B8BCC4"/>
          </a:solidFill>
          <a:ln w="0">
            <a:solidFill>
              <a:srgbClr val="B8BCC4"/>
            </a:solidFill>
            <a:prstDash val="solid"/>
          </a:ln>
        </p:spPr>
      </p:sp>
      <p:sp>
        <p:nvSpPr>
          <p:cNvPr id="9" name="manifest-label">
            <a:extLst>
              <a:ext uri="{FF2B5EF4-FFF2-40B4-BE49-F238E27FC236}">
                <a16:creationId xmlns:a16="http://schemas.microsoft.com/office/drawing/2014/main" id="{A5AD7D52-94FC-4484-A8B9-7D974712A9EC}"/>
              </a:ext>
            </a:extLst>
          </p:cNvPr>
          <p:cNvSpPr>
            <a:spLocks noGrp="1"/>
          </p:cNvSpPr>
          <p:nvPr/>
        </p:nvSpPr>
        <p:spPr>
          <a:xfrm>
            <a:off x="4000500" y="1857375"/>
            <a:ext cx="4095750" cy="266700"/>
          </a:xfrm>
          <a:prstGeom prst="rect">
            <a:avLst/>
          </a:prstGeom>
          <a:noFill/>
          <a:ln w="0">
            <a:noFill/>
            <a:prstDash val="solid"/>
          </a:ln>
        </p:spPr>
        <p:txBody>
          <a:bodyPr wrap="square" lIns="0" tIns="0" rIns="0" bIns="0" anchor="t">
            <a:noAutofit/>
          </a:bodyPr>
          <a:lstStyle/>
          <a:p>
            <a:pPr algn="l">
              <a:buNone/>
              <a:defRPr sz="1425" b="1" i="0">
                <a:solidFill>
                  <a:srgbClr val="C93A4B"/>
                </a:solidFill>
                <a:latin typeface="Arial"/>
                <a:ea typeface="Arial"/>
                <a:cs typeface="Arial"/>
              </a:defRPr>
            </a:pPr>
            <a:r>
              <a:rPr sz="1425" b="1" i="0">
                <a:solidFill>
                  <a:srgbClr val="C93A4B"/>
                </a:solidFill>
                <a:latin typeface="Arial"/>
                <a:ea typeface="Arial"/>
                <a:cs typeface="Arial"/>
              </a:rPr>
              <a:t>CHECK THE PIPELINE BOUNDARY</a:t>
            </a:r>
          </a:p>
        </p:txBody>
      </p:sp>
      <p:sp>
        <p:nvSpPr>
          <p:cNvPr id="10" name="manifest-root">
            <a:extLst>
              <a:ext uri="{FF2B5EF4-FFF2-40B4-BE49-F238E27FC236}">
                <a16:creationId xmlns:a16="http://schemas.microsoft.com/office/drawing/2014/main" id="{85A8082A-727F-4204-92D9-DDFF26BCE0B6}"/>
              </a:ext>
            </a:extLst>
          </p:cNvPr>
          <p:cNvSpPr>
            <a:spLocks noGrp="1"/>
          </p:cNvSpPr>
          <p:nvPr/>
        </p:nvSpPr>
        <p:spPr>
          <a:xfrm>
            <a:off x="4000500" y="2362200"/>
            <a:ext cx="3429000" cy="1181100"/>
          </a:xfrm>
          <a:prstGeom prst="rect">
            <a:avLst/>
          </a:prstGeom>
          <a:solidFill>
            <a:srgbClr val="FCEAEC"/>
          </a:solidFill>
          <a:ln w="0">
            <a:solidFill>
              <a:srgbClr val="FCEAEC"/>
            </a:solidFill>
            <a:prstDash val="solid"/>
          </a:ln>
        </p:spPr>
      </p:sp>
      <p:sp>
        <p:nvSpPr>
          <p:cNvPr id="11" name="manifest-root-title">
            <a:extLst>
              <a:ext uri="{FF2B5EF4-FFF2-40B4-BE49-F238E27FC236}">
                <a16:creationId xmlns:a16="http://schemas.microsoft.com/office/drawing/2014/main" id="{79001014-F5E4-42ED-AFD2-37A5178C79A0}"/>
              </a:ext>
            </a:extLst>
          </p:cNvPr>
          <p:cNvSpPr>
            <a:spLocks noGrp="1"/>
          </p:cNvSpPr>
          <p:nvPr/>
        </p:nvSpPr>
        <p:spPr>
          <a:xfrm>
            <a:off x="4210050" y="2552700"/>
            <a:ext cx="3009900" cy="266700"/>
          </a:xfrm>
          <a:prstGeom prst="rect">
            <a:avLst/>
          </a:prstGeom>
          <a:noFill/>
          <a:ln w="0">
            <a:noFill/>
            <a:prstDash val="solid"/>
          </a:ln>
        </p:spPr>
        <p:txBody>
          <a:bodyPr wrap="square" lIns="0" tIns="0" rIns="0" bIns="0" anchor="t">
            <a:noAutofit/>
          </a:bodyPr>
          <a:lstStyle/>
          <a:p>
            <a:pPr algn="l">
              <a:buNone/>
              <a:defRPr sz="1725" b="1" i="0">
                <a:solidFill>
                  <a:srgbClr val="C93A4B"/>
                </a:solidFill>
                <a:latin typeface="Arial"/>
                <a:ea typeface="Arial"/>
                <a:cs typeface="Arial"/>
              </a:defRPr>
            </a:pPr>
            <a:r>
              <a:rPr sz="1725" b="1" i="0">
                <a:solidFill>
                  <a:srgbClr val="C93A4B"/>
                </a:solidFill>
                <a:latin typeface="Arial"/>
                <a:ea typeface="Arial"/>
                <a:cs typeface="Arial"/>
              </a:rPr>
              <a:t>Pending / failed</a:t>
            </a:r>
          </a:p>
        </p:txBody>
      </p:sp>
      <p:sp>
        <p:nvSpPr>
          <p:cNvPr id="12" name="manifest-root-copy">
            <a:extLst>
              <a:ext uri="{FF2B5EF4-FFF2-40B4-BE49-F238E27FC236}">
                <a16:creationId xmlns:a16="http://schemas.microsoft.com/office/drawing/2014/main" id="{0EC0C244-56AE-42B1-86B2-B59D52E4D64E}"/>
              </a:ext>
            </a:extLst>
          </p:cNvPr>
          <p:cNvSpPr>
            <a:spLocks noGrp="1"/>
          </p:cNvSpPr>
          <p:nvPr/>
        </p:nvSpPr>
        <p:spPr>
          <a:xfrm>
            <a:off x="4210050" y="3009900"/>
            <a:ext cx="3009900" cy="28575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Extraction, model, or gateway error</a:t>
            </a:r>
          </a:p>
        </p:txBody>
      </p:sp>
      <p:sp>
        <p:nvSpPr>
          <p:cNvPr id="13" name="manifest-backend">
            <a:extLst>
              <a:ext uri="{FF2B5EF4-FFF2-40B4-BE49-F238E27FC236}">
                <a16:creationId xmlns:a16="http://schemas.microsoft.com/office/drawing/2014/main" id="{625699DD-F2D4-4C0E-AB8F-8CD6857BC06A}"/>
              </a:ext>
            </a:extLst>
          </p:cNvPr>
          <p:cNvSpPr>
            <a:spLocks noGrp="1"/>
          </p:cNvSpPr>
          <p:nvPr/>
        </p:nvSpPr>
        <p:spPr>
          <a:xfrm>
            <a:off x="4000500" y="3771900"/>
            <a:ext cx="3429000" cy="1181100"/>
          </a:xfrm>
          <a:prstGeom prst="rect">
            <a:avLst/>
          </a:prstGeom>
          <a:solidFill>
            <a:srgbClr val="E7F8F1"/>
          </a:solidFill>
          <a:ln w="0">
            <a:solidFill>
              <a:srgbClr val="E7F8F1"/>
            </a:solidFill>
            <a:prstDash val="solid"/>
          </a:ln>
        </p:spPr>
      </p:sp>
      <p:sp>
        <p:nvSpPr>
          <p:cNvPr id="14" name="manifest-backend-title">
            <a:extLst>
              <a:ext uri="{FF2B5EF4-FFF2-40B4-BE49-F238E27FC236}">
                <a16:creationId xmlns:a16="http://schemas.microsoft.com/office/drawing/2014/main" id="{CA9B2AE1-4953-482F-87D9-3178C6CC0C66}"/>
              </a:ext>
            </a:extLst>
          </p:cNvPr>
          <p:cNvSpPr>
            <a:spLocks noGrp="1"/>
          </p:cNvSpPr>
          <p:nvPr/>
        </p:nvSpPr>
        <p:spPr>
          <a:xfrm>
            <a:off x="4210050" y="3962400"/>
            <a:ext cx="3009900" cy="266700"/>
          </a:xfrm>
          <a:prstGeom prst="rect">
            <a:avLst/>
          </a:prstGeom>
          <a:noFill/>
          <a:ln w="0">
            <a:noFill/>
            <a:prstDash val="solid"/>
          </a:ln>
        </p:spPr>
        <p:txBody>
          <a:bodyPr wrap="square" lIns="0" tIns="0" rIns="0" bIns="0" anchor="t">
            <a:noAutofit/>
          </a:bodyPr>
          <a:lstStyle/>
          <a:p>
            <a:pPr algn="l">
              <a:buNone/>
              <a:defRPr sz="1725" b="1" i="0">
                <a:solidFill>
                  <a:srgbClr val="45B98D"/>
                </a:solidFill>
                <a:latin typeface="Arial"/>
                <a:ea typeface="Arial"/>
                <a:cs typeface="Arial"/>
              </a:defRPr>
            </a:pPr>
            <a:r>
              <a:rPr sz="1725" b="1" i="0">
                <a:solidFill>
                  <a:srgbClr val="45B98D"/>
                </a:solidFill>
                <a:latin typeface="Arial"/>
                <a:ea typeface="Arial"/>
                <a:cs typeface="Arial"/>
              </a:rPr>
              <a:t>Ready</a:t>
            </a:r>
          </a:p>
        </p:txBody>
      </p:sp>
      <p:sp>
        <p:nvSpPr>
          <p:cNvPr id="15" name="manifest-backend-copy">
            <a:extLst>
              <a:ext uri="{FF2B5EF4-FFF2-40B4-BE49-F238E27FC236}">
                <a16:creationId xmlns:a16="http://schemas.microsoft.com/office/drawing/2014/main" id="{10A9B6DE-16C9-4F84-87F3-7785C631A991}"/>
              </a:ext>
            </a:extLst>
          </p:cNvPr>
          <p:cNvSpPr>
            <a:spLocks noGrp="1"/>
          </p:cNvSpPr>
          <p:nvPr/>
        </p:nvSpPr>
        <p:spPr>
          <a:xfrm>
            <a:off x="4210050" y="4419600"/>
            <a:ext cx="3009900" cy="285750"/>
          </a:xfrm>
          <a:prstGeom prst="rect">
            <a:avLst/>
          </a:prstGeom>
          <a:noFill/>
          <a:ln w="0">
            <a:noFill/>
            <a:prstDash val="solid"/>
          </a:ln>
        </p:spPr>
        <p:txBody>
          <a:bodyPr wrap="square" lIns="0" tIns="0" rIns="0" bIns="0" anchor="t">
            <a:no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Chunks and vectors committed</a:t>
            </a:r>
          </a:p>
        </p:txBody>
      </p:sp>
      <p:sp>
        <p:nvSpPr>
          <p:cNvPr id="16" name="fix-vrule">
            <a:extLst>
              <a:ext uri="{FF2B5EF4-FFF2-40B4-BE49-F238E27FC236}">
                <a16:creationId xmlns:a16="http://schemas.microsoft.com/office/drawing/2014/main" id="{C7793AB0-A74B-46E5-AAD9-0E6FEEA0029A}"/>
              </a:ext>
            </a:extLst>
          </p:cNvPr>
          <p:cNvSpPr>
            <a:spLocks noGrp="1"/>
          </p:cNvSpPr>
          <p:nvPr/>
        </p:nvSpPr>
        <p:spPr>
          <a:xfrm>
            <a:off x="7829550" y="1828800"/>
            <a:ext cx="9525" cy="3886200"/>
          </a:xfrm>
          <a:prstGeom prst="rect">
            <a:avLst/>
          </a:prstGeom>
          <a:solidFill>
            <a:srgbClr val="B8BCC4"/>
          </a:solidFill>
          <a:ln w="0">
            <a:solidFill>
              <a:srgbClr val="B8BCC4"/>
            </a:solidFill>
            <a:prstDash val="solid"/>
          </a:ln>
        </p:spPr>
      </p:sp>
      <p:sp>
        <p:nvSpPr>
          <p:cNvPr id="17" name="fix-label">
            <a:extLst>
              <a:ext uri="{FF2B5EF4-FFF2-40B4-BE49-F238E27FC236}">
                <a16:creationId xmlns:a16="http://schemas.microsoft.com/office/drawing/2014/main" id="{0FECBA3B-1C5F-492E-8EEC-E31BF04B92C1}"/>
              </a:ext>
            </a:extLst>
          </p:cNvPr>
          <p:cNvSpPr>
            <a:spLocks noGrp="1"/>
          </p:cNvSpPr>
          <p:nvPr/>
        </p:nvSpPr>
        <p:spPr>
          <a:xfrm>
            <a:off x="8248650" y="1857375"/>
            <a:ext cx="3333750" cy="266700"/>
          </a:xfrm>
          <a:prstGeom prst="rect">
            <a:avLst/>
          </a:prstGeom>
          <a:noFill/>
          <a:ln w="0">
            <a:noFill/>
            <a:prstDash val="solid"/>
          </a:ln>
        </p:spPr>
        <p:txBody>
          <a:bodyPr wrap="square" lIns="0" tIns="0" rIns="0" bIns="0" anchor="t">
            <a:noAutofit/>
          </a:bodyPr>
          <a:lstStyle/>
          <a:p>
            <a:pPr algn="l">
              <a:buNone/>
              <a:defRPr sz="1425" b="1" i="0">
                <a:solidFill>
                  <a:srgbClr val="3D8DFF"/>
                </a:solidFill>
                <a:latin typeface="Arial"/>
                <a:ea typeface="Arial"/>
                <a:cs typeface="Arial"/>
              </a:defRPr>
            </a:pPr>
            <a:r>
              <a:rPr sz="1425" b="1" i="0">
                <a:solidFill>
                  <a:srgbClr val="3D8DFF"/>
                </a:solidFill>
                <a:latin typeface="Arial"/>
                <a:ea typeface="Arial"/>
                <a:cs typeface="Arial"/>
              </a:rPr>
              <a:t>VERIFY IN THE BACKEND ENVIRONMENT</a:t>
            </a:r>
          </a:p>
        </p:txBody>
      </p:sp>
      <p:sp>
        <p:nvSpPr>
          <p:cNvPr id="18" name="fix-command">
            <a:extLst>
              <a:ext uri="{FF2B5EF4-FFF2-40B4-BE49-F238E27FC236}">
                <a16:creationId xmlns:a16="http://schemas.microsoft.com/office/drawing/2014/main" id="{CCD7C9C6-317C-4363-84C3-280478D90D6E}"/>
              </a:ext>
            </a:extLst>
          </p:cNvPr>
          <p:cNvSpPr>
            <a:spLocks noGrp="1"/>
          </p:cNvSpPr>
          <p:nvPr/>
        </p:nvSpPr>
        <p:spPr>
          <a:xfrm>
            <a:off x="8280847" y="2394397"/>
            <a:ext cx="3301553" cy="1227786"/>
          </a:xfrm>
          <a:prstGeom prst="rect">
            <a:avLst/>
          </a:prstGeom>
          <a:solidFill>
            <a:srgbClr val="F6F6F7"/>
          </a:solidFill>
          <a:ln w="0">
            <a:noFill/>
            <a:prstDash val="solid"/>
          </a:ln>
        </p:spPr>
        <p:txBody>
          <a:bodyPr wrap="square" lIns="114300" tIns="133350" rIns="114300" bIns="114300" anchor="t">
            <a:noAutofit/>
          </a:bodyPr>
          <a:lstStyle/>
          <a:p>
            <a:pPr algn="l">
              <a:buNone/>
              <a:defRPr sz="1425" b="0" i="0">
                <a:solidFill>
                  <a:srgbClr val="111111"/>
                </a:solidFill>
                <a:latin typeface="Courier New"/>
                <a:ea typeface="Courier New"/>
                <a:cs typeface="Courier New"/>
              </a:defRPr>
            </a:pPr>
            <a:r>
              <a:rPr sz="1425" b="0" i="0">
                <a:solidFill>
                  <a:srgbClr val="111111"/>
                </a:solidFill>
                <a:latin typeface="Courier New"/>
                <a:ea typeface="Courier New"/>
                <a:cs typeface="Courier New"/>
              </a:rPr>
              <a:t>alembic upgrade head</a:t>
            </a:r>
          </a:p>
          <a:p>
            <a:pPr algn="l">
              <a:buNone/>
              <a:defRPr sz="1425" b="0" i="0">
                <a:solidFill>
                  <a:srgbClr val="111111"/>
                </a:solidFill>
                <a:latin typeface="Courier New"/>
                <a:ea typeface="Courier New"/>
                <a:cs typeface="Courier New"/>
              </a:defRPr>
            </a:pPr>
            <a:r>
              <a:rPr sz="1425" b="0" i="0">
                <a:solidFill>
                  <a:srgbClr val="111111"/>
                </a:solidFill>
                <a:latin typeface="Courier New"/>
                <a:ea typeface="Courier New"/>
                <a:cs typeface="Courier New"/>
              </a:rPr>
              <a:t>check pgvector extension</a:t>
            </a:r>
          </a:p>
          <a:p>
            <a:pPr algn="l">
              <a:buNone/>
              <a:defRPr sz="1425" b="0" i="0">
                <a:solidFill>
                  <a:srgbClr val="111111"/>
                </a:solidFill>
                <a:latin typeface="Courier New"/>
                <a:ea typeface="Courier New"/>
                <a:cs typeface="Courier New"/>
              </a:defRPr>
            </a:pPr>
            <a:r>
              <a:rPr sz="1425" b="0" i="0">
                <a:solidFill>
                  <a:srgbClr val="111111"/>
                </a:solidFill>
                <a:latin typeface="Courier New"/>
                <a:ea typeface="Courier New"/>
                <a:cs typeface="Courier New"/>
              </a:rPr>
              <a:t>confirm MiniLM cache</a:t>
            </a:r>
          </a:p>
          <a:p>
            <a:pPr algn="l">
              <a:buNone/>
              <a:defRPr sz="1425" b="0" i="0">
                <a:solidFill>
                  <a:srgbClr val="111111"/>
                </a:solidFill>
                <a:latin typeface="Courier New"/>
                <a:ea typeface="Courier New"/>
                <a:cs typeface="Courier New"/>
              </a:defRPr>
            </a:pPr>
            <a:r>
              <a:rPr sz="1425" b="0" i="0">
                <a:solidFill>
                  <a:srgbClr val="111111"/>
                </a:solidFill>
                <a:latin typeface="Courier New"/>
                <a:ea typeface="Courier New"/>
                <a:cs typeface="Courier New"/>
              </a:rPr>
              <a:t>confirm GPT-4o-mini image input</a:t>
            </a:r>
          </a:p>
        </p:txBody>
      </p:sp>
      <p:sp>
        <p:nvSpPr>
          <p:cNvPr id="19" name="fix-b1-dot">
            <a:extLst>
              <a:ext uri="{FF2B5EF4-FFF2-40B4-BE49-F238E27FC236}">
                <a16:creationId xmlns:a16="http://schemas.microsoft.com/office/drawing/2014/main" id="{81662EDF-6327-47FE-A1BB-44FAFC1C99D3}"/>
              </a:ext>
            </a:extLst>
          </p:cNvPr>
          <p:cNvSpPr>
            <a:spLocks noGrp="1"/>
          </p:cNvSpPr>
          <p:nvPr/>
        </p:nvSpPr>
        <p:spPr>
          <a:xfrm>
            <a:off x="8248650" y="3905250"/>
            <a:ext cx="85725" cy="85725"/>
          </a:xfrm>
          <a:prstGeom prst="ellipse">
            <a:avLst/>
          </a:prstGeom>
          <a:solidFill>
            <a:srgbClr val="3D8DFF"/>
          </a:solidFill>
          <a:ln w="0">
            <a:solidFill>
              <a:srgbClr val="3D8DFF"/>
            </a:solidFill>
            <a:prstDash val="solid"/>
          </a:ln>
        </p:spPr>
      </p:sp>
      <p:sp>
        <p:nvSpPr>
          <p:cNvPr id="20" name="fix-b1">
            <a:extLst>
              <a:ext uri="{FF2B5EF4-FFF2-40B4-BE49-F238E27FC236}">
                <a16:creationId xmlns:a16="http://schemas.microsoft.com/office/drawing/2014/main" id="{DE764EF4-5908-4ACD-8686-4BBB28DDC5C4}"/>
              </a:ext>
            </a:extLst>
          </p:cNvPr>
          <p:cNvSpPr>
            <a:spLocks noGrp="1"/>
          </p:cNvSpPr>
          <p:nvPr/>
        </p:nvSpPr>
        <p:spPr>
          <a:xfrm>
            <a:off x="8458200" y="3829050"/>
            <a:ext cx="3124200" cy="514350"/>
          </a:xfrm>
          <a:prstGeom prst="rect">
            <a:avLst/>
          </a:prstGeom>
          <a:noFill/>
          <a:ln w="0">
            <a:noFill/>
            <a:prstDash val="solid"/>
          </a:ln>
        </p:spPr>
        <p:txBody>
          <a:bodyPr wrap="square" lIns="0" tIns="0" rIns="0" bIns="0" anchor="t">
            <a:noAutofit/>
          </a:bodyPr>
          <a:lstStyle/>
          <a:p>
            <a:pPr algn="l">
              <a:buNone/>
              <a:defRPr sz="1500" b="0" i="0">
                <a:solidFill>
                  <a:srgbClr val="111111"/>
                </a:solidFill>
                <a:latin typeface="Arial"/>
                <a:ea typeface="Arial"/>
                <a:cs typeface="Arial"/>
              </a:defRPr>
            </a:pPr>
            <a:r>
              <a:rPr sz="1500" b="0" i="0">
                <a:solidFill>
                  <a:srgbClr val="111111"/>
                </a:solidFill>
                <a:latin typeface="Arial"/>
                <a:ea typeface="Arial"/>
                <a:cs typeface="Arial"/>
              </a:rPr>
              <a:t>Re-run Build RAG after embedding-model or dimension changes.</a:t>
            </a:r>
          </a:p>
        </p:txBody>
      </p:sp>
      <p:sp>
        <p:nvSpPr>
          <p:cNvPr id="21" name="fix-b2-dot">
            <a:extLst>
              <a:ext uri="{FF2B5EF4-FFF2-40B4-BE49-F238E27FC236}">
                <a16:creationId xmlns:a16="http://schemas.microsoft.com/office/drawing/2014/main" id="{011352F0-CB41-4F74-AA90-3417C139FF82}"/>
              </a:ext>
            </a:extLst>
          </p:cNvPr>
          <p:cNvSpPr>
            <a:spLocks noGrp="1"/>
          </p:cNvSpPr>
          <p:nvPr/>
        </p:nvSpPr>
        <p:spPr>
          <a:xfrm>
            <a:off x="8248650" y="4800600"/>
            <a:ext cx="85725" cy="85725"/>
          </a:xfrm>
          <a:prstGeom prst="ellipse">
            <a:avLst/>
          </a:prstGeom>
          <a:solidFill>
            <a:srgbClr val="D27A10"/>
          </a:solidFill>
          <a:ln w="0">
            <a:solidFill>
              <a:srgbClr val="D27A10"/>
            </a:solidFill>
            <a:prstDash val="solid"/>
          </a:ln>
        </p:spPr>
      </p:sp>
      <p:sp>
        <p:nvSpPr>
          <p:cNvPr id="22" name="fix-b2">
            <a:extLst>
              <a:ext uri="{FF2B5EF4-FFF2-40B4-BE49-F238E27FC236}">
                <a16:creationId xmlns:a16="http://schemas.microsoft.com/office/drawing/2014/main" id="{0A7CF988-E450-4C9D-8500-27F5D25C2D04}"/>
              </a:ext>
            </a:extLst>
          </p:cNvPr>
          <p:cNvSpPr>
            <a:spLocks noGrp="1"/>
          </p:cNvSpPr>
          <p:nvPr/>
        </p:nvSpPr>
        <p:spPr>
          <a:xfrm>
            <a:off x="8458200" y="4724400"/>
            <a:ext cx="3124200" cy="514350"/>
          </a:xfrm>
          <a:prstGeom prst="rect">
            <a:avLst/>
          </a:prstGeom>
          <a:noFill/>
          <a:ln w="0">
            <a:noFill/>
            <a:prstDash val="solid"/>
          </a:ln>
        </p:spPr>
        <p:txBody>
          <a:bodyPr wrap="square" lIns="0" tIns="0" rIns="0" bIns="0" anchor="t">
            <a:noAutofit/>
          </a:bodyPr>
          <a:lstStyle/>
          <a:p>
            <a:pPr algn="l">
              <a:buNone/>
              <a:defRPr sz="1500" b="0" i="0">
                <a:solidFill>
                  <a:srgbClr val="111111"/>
                </a:solidFill>
                <a:latin typeface="Arial"/>
                <a:ea typeface="Arial"/>
                <a:cs typeface="Arial"/>
              </a:defRPr>
            </a:pPr>
            <a:r>
              <a:rPr sz="1500" b="0" i="0">
                <a:solidFill>
                  <a:srgbClr val="111111"/>
                </a:solidFill>
                <a:latin typeface="Arial"/>
                <a:ea typeface="Arial"/>
                <a:cs typeface="Arial"/>
              </a:rPr>
              <a:t>Use a durable worker queue when jobs must survive backend restarts.</a:t>
            </a:r>
          </a:p>
        </p:txBody>
      </p:sp>
      <p:sp>
        <p:nvSpPr>
          <p:cNvPr id="23" name="error-takeaway">
            <a:extLst>
              <a:ext uri="{FF2B5EF4-FFF2-40B4-BE49-F238E27FC236}">
                <a16:creationId xmlns:a16="http://schemas.microsoft.com/office/drawing/2014/main" id="{590449B0-5412-4205-BEF6-3C37EFA73A6E}"/>
              </a:ext>
            </a:extLst>
          </p:cNvPr>
          <p:cNvSpPr>
            <a:spLocks noGrp="1"/>
          </p:cNvSpPr>
          <p:nvPr/>
        </p:nvSpPr>
        <p:spPr>
          <a:xfrm>
            <a:off x="400050" y="5953125"/>
            <a:ext cx="10668000" cy="323850"/>
          </a:xfrm>
          <a:prstGeom prst="rect">
            <a:avLst/>
          </a:prstGeom>
          <a:noFill/>
          <a:ln w="0">
            <a:noFill/>
            <a:prstDash val="solid"/>
          </a:ln>
        </p:spPr>
        <p:txBody>
          <a:bodyPr wrap="square" lIns="0" tIns="0" rIns="0" bIns="0" anchor="t">
            <a:noAutofit/>
          </a:bodyPr>
          <a:lstStyle/>
          <a:p>
            <a:pPr algn="l">
              <a:buNone/>
              <a:defRPr sz="1650" b="1" i="0">
                <a:solidFill>
                  <a:srgbClr val="111111"/>
                </a:solidFill>
                <a:latin typeface="Arial"/>
                <a:ea typeface="Arial"/>
                <a:cs typeface="Arial"/>
              </a:defRPr>
            </a:pPr>
            <a:r>
              <a:rPr sz="1650" b="1" i="0">
                <a:solidFill>
                  <a:srgbClr val="111111"/>
                </a:solidFill>
                <a:latin typeface="Arial"/>
                <a:ea typeface="Arial"/>
                <a:cs typeface="Arial"/>
              </a:rPr>
              <a:t>Diagnosis first: inspect section status and extracted text before changing interview prompts.</a:t>
            </a:r>
          </a:p>
        </p:txBody>
      </p:sp>
    </p:spTree>
    <p:extLst>
      <p:ext uri="{BB962C8B-B14F-4D97-AF65-F5344CB8AC3E}">
        <p14:creationId xmlns:p14="http://schemas.microsoft.com/office/powerpoint/2010/main" val="1058030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lose-kicker">
            <a:extLst>
              <a:ext uri="{FF2B5EF4-FFF2-40B4-BE49-F238E27FC236}">
                <a16:creationId xmlns:a16="http://schemas.microsoft.com/office/drawing/2014/main" id="{4E2BC836-0E67-4897-A49E-F16C2B86A9F0}"/>
              </a:ext>
            </a:extLst>
          </p:cNvPr>
          <p:cNvSpPr>
            <a:spLocks noGrp="1"/>
          </p:cNvSpPr>
          <p:nvPr/>
        </p:nvSpPr>
        <p:spPr>
          <a:xfrm>
            <a:off x="400050" y="400050"/>
            <a:ext cx="4762500" cy="228600"/>
          </a:xfrm>
          <a:prstGeom prst="rect">
            <a:avLst/>
          </a:prstGeom>
          <a:noFill/>
          <a:ln w="0">
            <a:noFill/>
            <a:prstDash val="solid"/>
          </a:ln>
        </p:spPr>
        <p:txBody>
          <a:bodyPr wrap="square" lIns="0" tIns="0" rIns="0" bIns="0" anchor="t">
            <a:noAutofit/>
          </a:bodyPr>
          <a:lstStyle/>
          <a:p>
            <a:pPr algn="l">
              <a:buNone/>
              <a:defRPr sz="1200" b="1" i="0">
                <a:solidFill>
                  <a:srgbClr val="5A36B5"/>
                </a:solidFill>
                <a:latin typeface="Arial"/>
                <a:ea typeface="Arial"/>
                <a:cs typeface="Arial"/>
              </a:defRPr>
            </a:pPr>
            <a:r>
              <a:rPr sz="1200" b="1" i="0">
                <a:solidFill>
                  <a:srgbClr val="5A36B5"/>
                </a:solidFill>
                <a:latin typeface="Arial"/>
                <a:ea typeface="Arial"/>
                <a:cs typeface="Arial"/>
              </a:rPr>
              <a:t>WHAT WORKSHOP 4 PROVES</a:t>
            </a:r>
          </a:p>
        </p:txBody>
      </p:sp>
      <p:sp>
        <p:nvSpPr>
          <p:cNvPr id="2" name="close-title">
            <a:extLst>
              <a:ext uri="{FF2B5EF4-FFF2-40B4-BE49-F238E27FC236}">
                <a16:creationId xmlns:a16="http://schemas.microsoft.com/office/drawing/2014/main" id="{7CFA3492-0937-4490-B7B1-7D84D84E637B}"/>
              </a:ext>
            </a:extLst>
          </p:cNvPr>
          <p:cNvSpPr>
            <a:spLocks noGrp="1"/>
          </p:cNvSpPr>
          <p:nvPr/>
        </p:nvSpPr>
        <p:spPr>
          <a:xfrm>
            <a:off x="400050" y="1219200"/>
            <a:ext cx="6953250" cy="1352550"/>
          </a:xfrm>
          <a:prstGeom prst="rect">
            <a:avLst/>
          </a:prstGeom>
          <a:noFill/>
          <a:ln w="0">
            <a:noFill/>
            <a:prstDash val="solid"/>
          </a:ln>
        </p:spPr>
        <p:txBody>
          <a:bodyPr wrap="square" lIns="0" tIns="0" rIns="0" bIns="0" anchor="t">
            <a:noAutofit/>
          </a:bodyPr>
          <a:lstStyle/>
          <a:p>
            <a:pPr algn="l">
              <a:buNone/>
              <a:defRPr sz="3900" b="1" i="0">
                <a:solidFill>
                  <a:srgbClr val="111111"/>
                </a:solidFill>
                <a:latin typeface="Arial"/>
                <a:ea typeface="Arial"/>
                <a:cs typeface="Arial"/>
              </a:defRPr>
            </a:pPr>
            <a:r>
              <a:rPr sz="3900" b="1" i="0">
                <a:solidFill>
                  <a:srgbClr val="111111"/>
                </a:solidFill>
                <a:latin typeface="Arial"/>
                <a:ea typeface="Arial"/>
                <a:cs typeface="Arial"/>
              </a:rPr>
              <a:t>Project knowledge becomes</a:t>
            </a:r>
          </a:p>
          <a:p>
            <a:pPr algn="l">
              <a:buNone/>
              <a:defRPr sz="3900" b="1" i="0">
                <a:solidFill>
                  <a:srgbClr val="111111"/>
                </a:solidFill>
                <a:latin typeface="Arial"/>
                <a:ea typeface="Arial"/>
                <a:cs typeface="Arial"/>
              </a:defRPr>
            </a:pPr>
            <a:r>
              <a:rPr sz="3900" b="1" i="0">
                <a:solidFill>
                  <a:srgbClr val="111111"/>
                </a:solidFill>
                <a:latin typeface="Arial"/>
                <a:ea typeface="Arial"/>
                <a:cs typeface="Arial"/>
              </a:rPr>
              <a:t>interview-ready</a:t>
            </a:r>
          </a:p>
        </p:txBody>
      </p:sp>
      <p:sp>
        <p:nvSpPr>
          <p:cNvPr id="3" name="close-message">
            <a:extLst>
              <a:ext uri="{FF2B5EF4-FFF2-40B4-BE49-F238E27FC236}">
                <a16:creationId xmlns:a16="http://schemas.microsoft.com/office/drawing/2014/main" id="{3157D5D9-4B13-4666-AF2D-87D4A65C131D}"/>
              </a:ext>
            </a:extLst>
          </p:cNvPr>
          <p:cNvSpPr>
            <a:spLocks noGrp="1"/>
          </p:cNvSpPr>
          <p:nvPr/>
        </p:nvSpPr>
        <p:spPr>
          <a:xfrm>
            <a:off x="400050" y="2876550"/>
            <a:ext cx="6705600" cy="990600"/>
          </a:xfrm>
          <a:prstGeom prst="rect">
            <a:avLst/>
          </a:prstGeom>
          <a:noFill/>
          <a:ln w="0">
            <a:noFill/>
            <a:prstDash val="solid"/>
          </a:ln>
        </p:spPr>
        <p:txBody>
          <a:bodyPr wrap="square" lIns="0" tIns="0" rIns="0" bIns="0" anchor="t">
            <a:noAutofit/>
          </a:bodyPr>
          <a:lstStyle/>
          <a:p>
            <a:pPr algn="l">
              <a:buNone/>
              <a:defRPr sz="2175" b="0" i="0">
                <a:solidFill>
                  <a:srgbClr val="111111"/>
                </a:solidFill>
                <a:latin typeface="Arial"/>
                <a:ea typeface="Arial"/>
                <a:cs typeface="Arial"/>
              </a:defRPr>
            </a:pPr>
            <a:r>
              <a:rPr sz="2175" b="0" i="0">
                <a:solidFill>
                  <a:srgbClr val="111111"/>
                </a:solidFill>
                <a:latin typeface="Arial"/>
                <a:ea typeface="Arial"/>
                <a:cs typeface="Arial"/>
              </a:rPr>
              <a:t>The team separated extraction, local embedding, retrieval, and question generation so each stage remains observable and replaceable.</a:t>
            </a:r>
          </a:p>
        </p:txBody>
      </p:sp>
      <p:sp>
        <p:nvSpPr>
          <p:cNvPr id="4" name="next-label">
            <a:extLst>
              <a:ext uri="{FF2B5EF4-FFF2-40B4-BE49-F238E27FC236}">
                <a16:creationId xmlns:a16="http://schemas.microsoft.com/office/drawing/2014/main" id="{92E4757F-5452-466E-8F93-5B98C0CEEF96}"/>
              </a:ext>
            </a:extLst>
          </p:cNvPr>
          <p:cNvSpPr>
            <a:spLocks noGrp="1"/>
          </p:cNvSpPr>
          <p:nvPr/>
        </p:nvSpPr>
        <p:spPr>
          <a:xfrm>
            <a:off x="400050" y="4495800"/>
            <a:ext cx="857250" cy="247650"/>
          </a:xfrm>
          <a:prstGeom prst="rect">
            <a:avLst/>
          </a:prstGeom>
          <a:noFill/>
          <a:ln w="0">
            <a:noFill/>
            <a:prstDash val="solid"/>
          </a:ln>
        </p:spPr>
        <p:txBody>
          <a:bodyPr wrap="square" lIns="0" tIns="0" rIns="0" bIns="0" anchor="t">
            <a:noAutofit/>
          </a:bodyPr>
          <a:lstStyle/>
          <a:p>
            <a:pPr algn="l">
              <a:buNone/>
              <a:defRPr sz="1425" b="1" i="0">
                <a:solidFill>
                  <a:srgbClr val="45B98D"/>
                </a:solidFill>
                <a:latin typeface="Arial"/>
                <a:ea typeface="Arial"/>
                <a:cs typeface="Arial"/>
              </a:defRPr>
            </a:pPr>
            <a:r>
              <a:rPr sz="1425" b="1" i="0">
                <a:solidFill>
                  <a:srgbClr val="45B98D"/>
                </a:solidFill>
                <a:latin typeface="Arial"/>
                <a:ea typeface="Arial"/>
                <a:cs typeface="Arial"/>
              </a:rPr>
              <a:t>NEXT</a:t>
            </a:r>
          </a:p>
        </p:txBody>
      </p:sp>
      <p:sp>
        <p:nvSpPr>
          <p:cNvPr id="5" name="next-copy">
            <a:extLst>
              <a:ext uri="{FF2B5EF4-FFF2-40B4-BE49-F238E27FC236}">
                <a16:creationId xmlns:a16="http://schemas.microsoft.com/office/drawing/2014/main" id="{1E844C98-E40E-4E32-9BD5-A2E937BCA86D}"/>
              </a:ext>
            </a:extLst>
          </p:cNvPr>
          <p:cNvSpPr>
            <a:spLocks noGrp="1"/>
          </p:cNvSpPr>
          <p:nvPr/>
        </p:nvSpPr>
        <p:spPr>
          <a:xfrm>
            <a:off x="1276350" y="4476750"/>
            <a:ext cx="6191250" cy="400050"/>
          </a:xfrm>
          <a:prstGeom prst="rect">
            <a:avLst/>
          </a:prstGeom>
          <a:noFill/>
          <a:ln w="0">
            <a:noFill/>
            <a:prstDash val="solid"/>
          </a:ln>
        </p:spPr>
        <p:txBody>
          <a:bodyPr wrap="square" lIns="0" tIns="0" rIns="0" bIns="0" anchor="t">
            <a:noAutofit/>
          </a:bodyPr>
          <a:lstStyle/>
          <a:p>
            <a:pPr algn="l">
              <a:buNone/>
              <a:defRPr sz="1650" b="0" i="0">
                <a:solidFill>
                  <a:srgbClr val="111111"/>
                </a:solidFill>
                <a:latin typeface="Arial"/>
                <a:ea typeface="Arial"/>
                <a:cs typeface="Arial"/>
              </a:defRPr>
            </a:pPr>
            <a:r>
              <a:rPr sz="1650" b="0" i="0">
                <a:solidFill>
                  <a:srgbClr val="111111"/>
                </a:solidFill>
                <a:latin typeface="Arial"/>
                <a:ea typeface="Arial"/>
                <a:cs typeface="Arial"/>
              </a:rPr>
              <a:t>Durable workers  ·  citations  ·  retrieval evaluation</a:t>
            </a:r>
          </a:p>
        </p:txBody>
      </p:sp>
      <p:sp>
        <p:nvSpPr>
          <p:cNvPr id="6" name="close-image-backing">
            <a:extLst>
              <a:ext uri="{FF2B5EF4-FFF2-40B4-BE49-F238E27FC236}">
                <a16:creationId xmlns:a16="http://schemas.microsoft.com/office/drawing/2014/main" id="{A66C1FA9-6198-4CB1-A99C-696A2EA48500}"/>
              </a:ext>
            </a:extLst>
          </p:cNvPr>
          <p:cNvSpPr>
            <a:spLocks noGrp="1"/>
          </p:cNvSpPr>
          <p:nvPr/>
        </p:nvSpPr>
        <p:spPr>
          <a:xfrm>
            <a:off x="7905750" y="742950"/>
            <a:ext cx="3886200" cy="5067300"/>
          </a:xfrm>
          <a:prstGeom prst="rect">
            <a:avLst/>
          </a:prstGeom>
          <a:solidFill>
            <a:srgbClr val="EAF5FB"/>
          </a:solidFill>
          <a:ln w="9525">
            <a:solidFill>
              <a:srgbClr val="B8BCC4"/>
            </a:solidFill>
            <a:prstDash val="solid"/>
          </a:ln>
        </p:spPr>
      </p:sp>
      <p:pic>
        <p:nvPicPr>
          <p:cNvPr id="18" name="Picture 17"/>
          <p:cNvPicPr>
            <a:picLocks noChangeAspect="1"/>
          </p:cNvPicPr>
          <p:nvPr/>
        </p:nvPicPr>
        <p:blipFill>
          <a:blip r:embed="rId3"/>
          <a:srcRect l="29863" r="29863"/>
          <a:stretch>
            <a:fillRect/>
          </a:stretch>
        </p:blipFill>
        <p:spPr>
          <a:xfrm>
            <a:off x="7905750" y="742950"/>
            <a:ext cx="3886200" cy="5067300"/>
          </a:xfrm>
          <a:prstGeom prst="rect">
            <a:avLst/>
          </a:prstGeom>
        </p:spPr>
      </p:pic>
      <p:sp>
        <p:nvSpPr>
          <p:cNvPr id="8" name="close-footer">
            <a:extLst>
              <a:ext uri="{FF2B5EF4-FFF2-40B4-BE49-F238E27FC236}">
                <a16:creationId xmlns:a16="http://schemas.microsoft.com/office/drawing/2014/main" id="{F0FCE1EA-A23B-4A7C-91F8-55DF239B99D4}"/>
              </a:ext>
            </a:extLst>
          </p:cNvPr>
          <p:cNvSpPr>
            <a:spLocks noGrp="1"/>
          </p:cNvSpPr>
          <p:nvPr/>
        </p:nvSpPr>
        <p:spPr>
          <a:xfrm>
            <a:off x="400050" y="5905500"/>
            <a:ext cx="4953000" cy="342900"/>
          </a:xfrm>
          <a:prstGeom prst="rect">
            <a:avLst/>
          </a:prstGeom>
          <a:noFill/>
          <a:ln w="0">
            <a:noFill/>
            <a:prstDash val="solid"/>
          </a:ln>
        </p:spPr>
        <p:txBody>
          <a:bodyPr wrap="square" lIns="0" tIns="0" rIns="0" bIns="0" anchor="t">
            <a:noAutofit/>
          </a:bodyPr>
          <a:lstStyle/>
          <a:p>
            <a:pPr algn="l">
              <a:buNone/>
              <a:defRPr sz="1875" b="1" i="0">
                <a:solidFill>
                  <a:srgbClr val="5A36B5"/>
                </a:solidFill>
                <a:latin typeface="Arial"/>
                <a:ea typeface="Arial"/>
                <a:cs typeface="Arial"/>
              </a:defRPr>
            </a:pPr>
            <a:r>
              <a:rPr sz="1875" b="1" i="0">
                <a:solidFill>
                  <a:srgbClr val="5A36B5"/>
                </a:solidFill>
                <a:latin typeface="Arial"/>
                <a:ea typeface="Arial"/>
                <a:cs typeface="Arial"/>
              </a:rPr>
              <a:t>Practice. Reflect. Grow.</a:t>
            </a:r>
          </a:p>
        </p:txBody>
      </p:sp>
      <p:sp>
        <p:nvSpPr>
          <p:cNvPr id="9" name="close-number">
            <a:extLst>
              <a:ext uri="{FF2B5EF4-FFF2-40B4-BE49-F238E27FC236}">
                <a16:creationId xmlns:a16="http://schemas.microsoft.com/office/drawing/2014/main" id="{8D1F8E85-F77A-4252-B833-D608134EE08A}"/>
              </a:ext>
            </a:extLst>
          </p:cNvPr>
          <p:cNvSpPr>
            <a:spLocks noGrp="1"/>
          </p:cNvSpPr>
          <p:nvPr/>
        </p:nvSpPr>
        <p:spPr>
          <a:xfrm>
            <a:off x="11334750" y="6467475"/>
            <a:ext cx="457200" cy="171450"/>
          </a:xfrm>
          <a:prstGeom prst="rect">
            <a:avLst/>
          </a:prstGeom>
          <a:noFill/>
          <a:ln w="0">
            <a:noFill/>
            <a:prstDash val="solid"/>
          </a:ln>
        </p:spPr>
        <p:txBody>
          <a:bodyPr wrap="square" lIns="0" tIns="0" rIns="0" bIns="0" anchor="t">
            <a:noAutofit/>
          </a:bodyPr>
          <a:lstStyle/>
          <a:p>
            <a:pPr algn="r">
              <a:buNone/>
              <a:defRPr sz="1050" b="0" i="0">
                <a:solidFill>
                  <a:srgbClr val="5D6470"/>
                </a:solidFill>
                <a:latin typeface="Arial"/>
                <a:ea typeface="Arial"/>
                <a:cs typeface="Arial"/>
              </a:defRPr>
            </a:pPr>
            <a:r>
              <a:rPr sz="1050" b="0" i="0">
                <a:solidFill>
                  <a:srgbClr val="5D6470"/>
                </a:solidFill>
                <a:latin typeface="Arial"/>
                <a:ea typeface="Arial"/>
                <a:cs typeface="Arial"/>
              </a:rPr>
              <a:t>10</a:t>
            </a:r>
          </a:p>
        </p:txBody>
      </p:sp>
    </p:spTree>
    <p:extLst>
      <p:ext uri="{BB962C8B-B14F-4D97-AF65-F5344CB8AC3E}">
        <p14:creationId xmlns:p14="http://schemas.microsoft.com/office/powerpoint/2010/main" val="151301947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DocSecurity>0</DocSecurity>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cp:revision>10</cp:revision>
  <dcterms:created xsi:type="dcterms:W3CDTF">2026-08-18T18:27:07Z</dcterms:created>
  <dcterms:modified xsi:type="dcterms:W3CDTF">2026-08-19T02:15:28Z</dcterms:modified>
</cp:coreProperties>
</file>